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74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731520"/>
            <a:ext cx="3017520" cy="3017520"/>
          </a:xfrm>
          <a:prstGeom prst="ellipse">
            <a:avLst/>
          </a:prstGeom>
          <a:solidFill>
            <a:srgbClr val="34898E"/>
          </a:solidFill>
          <a:ln>
            <a:solidFill>
              <a:srgbClr val="34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5303520"/>
            <a:ext cx="2011680" cy="2011680"/>
          </a:xfrm>
          <a:prstGeom prst="ellipse">
            <a:avLst/>
          </a:prstGeom>
          <a:solidFill>
            <a:srgbClr val="2C8186"/>
          </a:solidFill>
          <a:ln>
            <a:solidFill>
              <a:srgbClr val="2C8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40080"/>
            <a:ext cx="685800" cy="731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6217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DAEFEC"/>
                </a:solidFill>
                <a:latin typeface="Aptos"/>
              </a:rPr>
              <a:t>DATA ENGINEERING • AI SPECIALIZATION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969264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Data Engineering Pipeline for
Public Health Trend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71800"/>
            <a:ext cx="8686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1" dirty="0">
                <a:solidFill>
                  <a:srgbClr val="DAEFEC"/>
                </a:solidFill>
                <a:latin typeface="Aptos"/>
              </a:rPr>
              <a:t>Real-time data streaming using Apache Kafka &amp; Apache Spark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3566160"/>
            <a:ext cx="4187952" cy="0"/>
          </a:xfrm>
          <a:prstGeom prst="line">
            <a:avLst/>
          </a:prstGeom>
          <a:ln w="25400">
            <a:solidFill>
              <a:srgbClr val="DAE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6364" y="4050792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32688" y="4233672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F747A"/>
                </a:solidFill>
                <a:latin typeface="Aptos"/>
              </a:rPr>
              <a:t>PROJECT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466844"/>
            <a:ext cx="2331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 dirty="0">
                <a:solidFill>
                  <a:srgbClr val="1B3639"/>
                </a:solidFill>
                <a:latin typeface="Aptos"/>
              </a:rPr>
              <a:t>B Vaishnavi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9292" y="4421123"/>
            <a:ext cx="173736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 dirty="0">
                <a:latin typeface="Aptos"/>
              </a:rPr>
              <a:t>2420090026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4736592"/>
            <a:ext cx="2331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 dirty="0">
                <a:solidFill>
                  <a:srgbClr val="1B3639"/>
                </a:solidFill>
                <a:latin typeface="Aptos"/>
              </a:rPr>
              <a:t>S Lahari Krishna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4754880"/>
            <a:ext cx="173736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 dirty="0">
                <a:latin typeface="Aptos"/>
              </a:rPr>
              <a:t>2420090055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542" y="5010912"/>
            <a:ext cx="2331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 dirty="0">
                <a:solidFill>
                  <a:srgbClr val="1B3639"/>
                </a:solidFill>
                <a:latin typeface="Aptos"/>
              </a:rPr>
              <a:t>K. Yasaswi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5038343"/>
            <a:ext cx="173736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 dirty="0">
                <a:latin typeface="Aptos"/>
              </a:rPr>
              <a:t>2420030053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160520"/>
            <a:ext cx="438912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A streaming data engineering prototype for faster public-health trend monitoring.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5440680"/>
            <a:ext cx="1051560" cy="347472"/>
          </a:xfrm>
          <a:prstGeom prst="roundRect">
            <a:avLst/>
          </a:prstGeom>
          <a:solidFill>
            <a:srgbClr val="DAEFEC"/>
          </a:solidFill>
          <a:ln>
            <a:solidFill>
              <a:srgbClr val="DA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5477256"/>
            <a:ext cx="960119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1F747A"/>
                </a:solidFill>
                <a:latin typeface="Aptos"/>
              </a:rPr>
              <a:t>KAFKA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5440680"/>
            <a:ext cx="105156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7848" y="5477256"/>
            <a:ext cx="960119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1F747A"/>
                </a:solidFill>
                <a:latin typeface="Aptos"/>
              </a:rPr>
              <a:t>SPARK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5440680"/>
            <a:ext cx="1234440" cy="347472"/>
          </a:xfrm>
          <a:prstGeom prst="roundRect">
            <a:avLst/>
          </a:prstGeom>
          <a:solidFill>
            <a:srgbClr val="EEDEB9"/>
          </a:solidFill>
          <a:ln>
            <a:solidFill>
              <a:srgbClr val="EED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4856" y="5477256"/>
            <a:ext cx="11430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1B3639"/>
                </a:solidFill>
                <a:latin typeface="Aptos"/>
              </a:rPr>
              <a:t>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F747A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56032"/>
            <a:ext cx="99669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B3639"/>
                </a:solidFill>
                <a:latin typeface="Aptos"/>
              </a:rPr>
              <a:t>Abstract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96112"/>
            <a:ext cx="11183112" cy="0"/>
          </a:xfrm>
          <a:prstGeom prst="line">
            <a:avLst/>
          </a:prstGeom>
          <a:ln w="12700">
            <a:solidFill>
              <a:srgbClr val="E8E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987552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D6C6E"/>
                </a:solidFill>
                <a:latin typeface="Aptos"/>
              </a:rPr>
              <a:t>From periodic reporting to continuous 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6720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64208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8745B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617220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1B3639"/>
                </a:solidFill>
                <a:latin typeface="Aptos"/>
              </a:rPr>
              <a:t>Public health agencies often rely on periodic, static reports to track disease spread. By the time data is compiled and analyzed, it can already be days old.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F747A"/>
                </a:solidFill>
                <a:latin typeface="Aptos"/>
              </a:rPr>
              <a:t>THE PROPOSED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39312"/>
            <a:ext cx="61722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1B3639"/>
                </a:solidFill>
                <a:latin typeface="Aptos"/>
              </a:rPr>
              <a:t>This project simulates live case reports from multiple regions, streams them through Apache Kafka, and processes them continuously with Apache Spark.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80060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DCA948"/>
                </a:solidFill>
                <a:latin typeface="Aptos"/>
              </a:rPr>
              <a:t>THE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184648"/>
            <a:ext cx="61722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B3639"/>
                </a:solidFill>
                <a:latin typeface="Aptos"/>
              </a:rPr>
              <a:t>Rolling case and death trends are updated as new data arrives instead of waiting for a complete batch.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371600"/>
            <a:ext cx="3749039" cy="4526280"/>
          </a:xfrm>
          <a:prstGeom prst="roundRect">
            <a:avLst/>
          </a:prstGeom>
          <a:solidFill>
            <a:srgbClr val="EDF7F5"/>
          </a:solidFill>
          <a:ln>
            <a:solidFill>
              <a:srgbClr val="ED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65008" y="1700784"/>
            <a:ext cx="2926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1F747A"/>
                </a:solidFill>
                <a:latin typeface="Aptos"/>
              </a:rPr>
              <a:t>STREAMING MINDSET</a:t>
            </a:r>
          </a:p>
        </p:txBody>
      </p:sp>
      <p:sp>
        <p:nvSpPr>
          <p:cNvPr id="15" name="Oval 14"/>
          <p:cNvSpPr/>
          <p:nvPr/>
        </p:nvSpPr>
        <p:spPr>
          <a:xfrm>
            <a:off x="8275320" y="2148840"/>
            <a:ext cx="411480" cy="411480"/>
          </a:xfrm>
          <a:prstGeom prst="ellipse">
            <a:avLst/>
          </a:prstGeom>
          <a:solidFill>
            <a:srgbClr val="E8745B"/>
          </a:solidFill>
          <a:ln>
            <a:solidFill>
              <a:srgbClr val="E8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0" y="2130552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B3639"/>
                </a:solidFill>
                <a:latin typeface="Aptos"/>
              </a:rPr>
              <a:t>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2130552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D6C6E"/>
                </a:solidFill>
                <a:latin typeface="Aptos"/>
              </a:rPr>
              <a:t>new case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76488" y="2560320"/>
            <a:ext cx="0" cy="347472"/>
          </a:xfrm>
          <a:prstGeom prst="line">
            <a:avLst/>
          </a:prstGeom>
          <a:ln w="25400">
            <a:solidFill>
              <a:srgbClr val="E8E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275320" y="2926080"/>
            <a:ext cx="411480" cy="411480"/>
          </a:xfrm>
          <a:prstGeom prst="ellipse">
            <a:avLst/>
          </a:prstGeom>
          <a:solidFill>
            <a:srgbClr val="1F747A"/>
          </a:solidFill>
          <a:ln>
            <a:solidFill>
              <a:srgbClr val="1F7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0" y="2907792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B3639"/>
                </a:solidFill>
                <a:latin typeface="Aptos"/>
              </a:rPr>
              <a:t>STREAM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907792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D6C6E"/>
                </a:solidFill>
                <a:latin typeface="Aptos"/>
              </a:rPr>
              <a:t>Kafka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76488" y="3337560"/>
            <a:ext cx="0" cy="347472"/>
          </a:xfrm>
          <a:prstGeom prst="line">
            <a:avLst/>
          </a:prstGeom>
          <a:ln w="25400">
            <a:solidFill>
              <a:srgbClr val="E8E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275320" y="3703320"/>
            <a:ext cx="411480" cy="411480"/>
          </a:xfrm>
          <a:prstGeom prst="ellipse">
            <a:avLst/>
          </a:prstGeom>
          <a:solidFill>
            <a:srgbClr val="DCA948"/>
          </a:solidFill>
          <a:ln>
            <a:solidFill>
              <a:srgbClr val="DCA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0" y="3685032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B3639"/>
                </a:solidFill>
                <a:latin typeface="Aptos"/>
              </a:rPr>
              <a:t>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685032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D6C6E"/>
                </a:solidFill>
                <a:latin typeface="Aptos"/>
              </a:rPr>
              <a:t>Spark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76488" y="4114800"/>
            <a:ext cx="0" cy="347472"/>
          </a:xfrm>
          <a:prstGeom prst="line">
            <a:avLst/>
          </a:prstGeom>
          <a:ln w="25400">
            <a:solidFill>
              <a:srgbClr val="E8E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275320" y="4480560"/>
            <a:ext cx="411480" cy="411480"/>
          </a:xfrm>
          <a:prstGeom prst="ellipse">
            <a:avLst/>
          </a:prstGeom>
          <a:solidFill>
            <a:srgbClr val="1B3639"/>
          </a:solidFill>
          <a:ln>
            <a:solidFill>
              <a:srgbClr val="1B3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0" y="4462272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B3639"/>
                </a:solidFill>
                <a:latin typeface="Aptos"/>
              </a:rPr>
              <a:t>TREND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4462272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D6C6E"/>
                </a:solidFill>
                <a:latin typeface="Aptos"/>
              </a:rPr>
              <a:t>live totals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F747A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56032"/>
            <a:ext cx="99669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B3639"/>
                </a:solidFill>
                <a:latin typeface="Aptos"/>
              </a:rPr>
              <a:t>Project Objectives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96112"/>
            <a:ext cx="11183112" cy="0"/>
          </a:xfrm>
          <a:prstGeom prst="line">
            <a:avLst/>
          </a:prstGeom>
          <a:ln w="12700">
            <a:solidFill>
              <a:srgbClr val="E8E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987552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D6C6E"/>
                </a:solidFill>
                <a:latin typeface="Aptos"/>
              </a:rPr>
              <a:t>Keep the scope practical while demonstrating real data-engineering concepts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417320"/>
            <a:ext cx="5074920" cy="82296"/>
          </a:xfrm>
          <a:prstGeom prst="rect">
            <a:avLst/>
          </a:prstGeom>
          <a:solidFill>
            <a:srgbClr val="1F747A"/>
          </a:solidFill>
          <a:ln>
            <a:solidFill>
              <a:srgbClr val="1F7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167335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747A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27632"/>
            <a:ext cx="3794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B3639"/>
                </a:solidFill>
                <a:latin typeface="Aptos"/>
              </a:rPr>
              <a:t>Simulate live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75688"/>
            <a:ext cx="379476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Read sample health records and send them one at a time as streaming events.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074920" cy="82296"/>
          </a:xfrm>
          <a:prstGeom prst="rect">
            <a:avLst/>
          </a:prstGeom>
          <a:solidFill>
            <a:srgbClr val="E8745B"/>
          </a:solidFill>
          <a:ln>
            <a:solidFill>
              <a:srgbClr val="E8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67335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8745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1627632"/>
            <a:ext cx="3794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B3639"/>
                </a:solidFill>
                <a:latin typeface="Aptos"/>
              </a:rPr>
              <a:t>Build a reliable 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075688"/>
            <a:ext cx="379476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Use Kafka to separate data arrival from downstream processing.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56616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" y="3566160"/>
            <a:ext cx="5074920" cy="82296"/>
          </a:xfrm>
          <a:prstGeom prst="rect">
            <a:avLst/>
          </a:prstGeom>
          <a:solidFill>
            <a:srgbClr val="DCA948"/>
          </a:solidFill>
          <a:ln>
            <a:solidFill>
              <a:srgbClr val="DCA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382219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DCA948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76472"/>
            <a:ext cx="3794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B3639"/>
                </a:solidFill>
                <a:latin typeface="Aptos"/>
              </a:rPr>
              <a:t>Process continuously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24528"/>
            <a:ext cx="379476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Use Spark Structured Streaming to aggregate cases and deaths by region.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6616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566160"/>
            <a:ext cx="5074920" cy="82296"/>
          </a:xfrm>
          <a:prstGeom prst="rect">
            <a:avLst/>
          </a:prstGeom>
          <a:solidFill>
            <a:srgbClr val="1B3639"/>
          </a:solidFill>
          <a:ln>
            <a:solidFill>
              <a:srgbClr val="1B3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382219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B3639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3776472"/>
            <a:ext cx="3794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B3639"/>
                </a:solidFill>
                <a:latin typeface="Aptos"/>
              </a:rPr>
              <a:t>Surface trends quickly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4224528"/>
            <a:ext cx="379476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Produce rolling totals that update as new events arrive.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F747A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56032"/>
            <a:ext cx="99669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B3639"/>
                </a:solidFill>
                <a:latin typeface="Aptos"/>
              </a:rPr>
              <a:t>Tools &amp; Technology Stack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96112"/>
            <a:ext cx="11183112" cy="0"/>
          </a:xfrm>
          <a:prstGeom prst="line">
            <a:avLst/>
          </a:prstGeom>
          <a:ln w="12700">
            <a:solidFill>
              <a:srgbClr val="E8E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987552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D6C6E"/>
                </a:solidFill>
                <a:latin typeface="Aptos"/>
              </a:rPr>
              <a:t>Each technology has one focused role in the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42032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664208"/>
            <a:ext cx="658368" cy="658368"/>
          </a:xfrm>
          <a:prstGeom prst="ellipse">
            <a:avLst/>
          </a:prstGeom>
          <a:solidFill>
            <a:srgbClr val="1F747A"/>
          </a:solidFill>
          <a:ln>
            <a:solidFill>
              <a:srgbClr val="1F7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65836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KAFKA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20574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B3639"/>
                </a:solidFill>
                <a:latin typeface="Aptos"/>
              </a:rPr>
              <a:t>Real-time message 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05740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Receives each case report as an event and holds it until Spark processes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892040"/>
            <a:ext cx="1051560" cy="347472"/>
          </a:xfrm>
          <a:prstGeom prst="roundRect">
            <a:avLst/>
          </a:prstGeom>
          <a:solidFill>
            <a:srgbClr val="1F747A"/>
          </a:solidFill>
          <a:ln>
            <a:solidFill>
              <a:srgbClr val="1F7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928616"/>
            <a:ext cx="960119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MESSAGE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417320"/>
            <a:ext cx="2542032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85031" y="1664208"/>
            <a:ext cx="658368" cy="658368"/>
          </a:xfrm>
          <a:prstGeom prst="ellipse">
            <a:avLst/>
          </a:prstGeom>
          <a:solidFill>
            <a:srgbClr val="E8745B"/>
          </a:solidFill>
          <a:ln>
            <a:solidFill>
              <a:srgbClr val="E8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1" y="1847088"/>
            <a:ext cx="65836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SPARK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1" y="2542032"/>
            <a:ext cx="20574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B3639"/>
                </a:solidFill>
                <a:latin typeface="Aptos"/>
              </a:rPr>
              <a:t>Structured Streaming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1" y="3154680"/>
            <a:ext cx="205740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Consumes Kafka events continuously and aggregates rolling case/death totals.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85031" y="4892040"/>
            <a:ext cx="1051560" cy="347472"/>
          </a:xfrm>
          <a:prstGeom prst="roundRect">
            <a:avLst/>
          </a:prstGeom>
          <a:solidFill>
            <a:srgbClr val="E8745B"/>
          </a:solidFill>
          <a:ln>
            <a:solidFill>
              <a:srgbClr val="E8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30751" y="4928616"/>
            <a:ext cx="960119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1417320"/>
            <a:ext cx="2542032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55664" y="1664208"/>
            <a:ext cx="658368" cy="658368"/>
          </a:xfrm>
          <a:prstGeom prst="ellipse">
            <a:avLst/>
          </a:prstGeom>
          <a:solidFill>
            <a:srgbClr val="DCA948"/>
          </a:solidFill>
          <a:ln>
            <a:solidFill>
              <a:srgbClr val="DCA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55664" y="1847088"/>
            <a:ext cx="65836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2542032"/>
            <a:ext cx="20574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B3639"/>
                </a:solidFill>
                <a:latin typeface="Aptos"/>
              </a:rPr>
              <a:t>Data producer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3154680"/>
            <a:ext cx="205740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Reads sample health records and sends them to Kafka one record at a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55664" y="4892040"/>
            <a:ext cx="1051560" cy="347472"/>
          </a:xfrm>
          <a:prstGeom prst="roundRect">
            <a:avLst/>
          </a:prstGeom>
          <a:solidFill>
            <a:srgbClr val="DCA948"/>
          </a:solidFill>
          <a:ln>
            <a:solidFill>
              <a:srgbClr val="DCA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01383" y="4928616"/>
            <a:ext cx="960119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7696" y="1417320"/>
            <a:ext cx="2542032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226296" y="1664208"/>
            <a:ext cx="658368" cy="658368"/>
          </a:xfrm>
          <a:prstGeom prst="ellipse">
            <a:avLst/>
          </a:prstGeom>
          <a:solidFill>
            <a:srgbClr val="1B3639"/>
          </a:solidFill>
          <a:ln>
            <a:solidFill>
              <a:srgbClr val="1B3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26296" y="1847088"/>
            <a:ext cx="65836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DOCKER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2542032"/>
            <a:ext cx="20574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B3639"/>
                </a:solidFill>
                <a:latin typeface="Aptos"/>
              </a:rPr>
              <a:t>Environment setup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3154680"/>
            <a:ext cx="205740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Runs Kafka and Spark in ready-made containers, simplifying local setup.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26296" y="4892040"/>
            <a:ext cx="1051560" cy="347472"/>
          </a:xfrm>
          <a:prstGeom prst="roundRect">
            <a:avLst/>
          </a:prstGeom>
          <a:solidFill>
            <a:srgbClr val="1B3639"/>
          </a:solidFill>
          <a:ln>
            <a:solidFill>
              <a:srgbClr val="1B3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72016" y="4928616"/>
            <a:ext cx="960119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RUNTIME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F747A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56032"/>
            <a:ext cx="99669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B3639"/>
                </a:solidFill>
                <a:latin typeface="Aptos"/>
              </a:rPr>
              <a:t>System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96112"/>
            <a:ext cx="11183112" cy="0"/>
          </a:xfrm>
          <a:prstGeom prst="line">
            <a:avLst/>
          </a:prstGeom>
          <a:ln w="12700">
            <a:solidFill>
              <a:srgbClr val="E8E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987552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D6C6E"/>
                </a:solidFill>
                <a:latin typeface="Aptos"/>
              </a:rPr>
              <a:t>Four stages connect the source data to continuously updated health trends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31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2121408"/>
            <a:ext cx="457200" cy="457200"/>
          </a:xfrm>
          <a:prstGeom prst="ellipse">
            <a:avLst/>
          </a:prstGeom>
          <a:solidFill>
            <a:srgbClr val="E8745B"/>
          </a:solidFill>
          <a:ln>
            <a:solidFill>
              <a:srgbClr val="E8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31136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43200"/>
            <a:ext cx="1874519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B3639"/>
                </a:solidFill>
                <a:latin typeface="Aptos"/>
              </a:rPr>
              <a:t>SIMULATED
HEALTH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547872"/>
            <a:ext cx="1874519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5D6C6E"/>
                </a:solidFill>
                <a:latin typeface="Aptos"/>
              </a:rPr>
              <a:t>CSV case reports
5 regions • 60 days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99232" y="3063240"/>
            <a:ext cx="457200" cy="0"/>
          </a:xfrm>
          <a:prstGeom prst="line">
            <a:avLst/>
          </a:prstGeom>
          <a:ln w="25400">
            <a:solidFill>
              <a:srgbClr val="1F7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ight Triangle 11"/>
          <p:cNvSpPr/>
          <p:nvPr/>
        </p:nvSpPr>
        <p:spPr>
          <a:xfrm rot="5400000">
            <a:off x="3346704" y="2944368"/>
            <a:ext cx="182880" cy="237744"/>
          </a:xfrm>
          <a:prstGeom prst="rtTriangle">
            <a:avLst/>
          </a:prstGeom>
          <a:solidFill>
            <a:srgbClr val="1F747A"/>
          </a:solidFill>
          <a:ln>
            <a:solidFill>
              <a:srgbClr val="1F7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11296" y="1874519"/>
            <a:ext cx="2331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21608" y="2121408"/>
            <a:ext cx="457200" cy="457200"/>
          </a:xfrm>
          <a:prstGeom prst="ellipse">
            <a:avLst/>
          </a:prstGeom>
          <a:solidFill>
            <a:srgbClr val="1F747A"/>
          </a:solidFill>
          <a:ln>
            <a:solidFill>
              <a:srgbClr val="1F7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21608" y="2231136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2743200"/>
            <a:ext cx="1874519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B3639"/>
                </a:solidFill>
                <a:latin typeface="Aptos"/>
              </a:rPr>
              <a:t>KAFKA
TOPIC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547872"/>
            <a:ext cx="1874519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5D6C6E"/>
                </a:solidFill>
                <a:latin typeface="Aptos"/>
              </a:rPr>
              <a:t>Producer sends
one record/event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52160" y="3063240"/>
            <a:ext cx="457200" cy="0"/>
          </a:xfrm>
          <a:prstGeom prst="line">
            <a:avLst/>
          </a:prstGeom>
          <a:ln w="25400">
            <a:solidFill>
              <a:srgbClr val="1F7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Triangle 18"/>
          <p:cNvSpPr/>
          <p:nvPr/>
        </p:nvSpPr>
        <p:spPr>
          <a:xfrm rot="5400000">
            <a:off x="6199631" y="2944368"/>
            <a:ext cx="182880" cy="237744"/>
          </a:xfrm>
          <a:prstGeom prst="rtTriangle">
            <a:avLst/>
          </a:prstGeom>
          <a:solidFill>
            <a:srgbClr val="1F747A"/>
          </a:solidFill>
          <a:ln>
            <a:solidFill>
              <a:srgbClr val="1F7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64224" y="1874519"/>
            <a:ext cx="2331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74536" y="2121408"/>
            <a:ext cx="457200" cy="457200"/>
          </a:xfrm>
          <a:prstGeom prst="ellipse">
            <a:avLst/>
          </a:prstGeom>
          <a:solidFill>
            <a:srgbClr val="DCA948"/>
          </a:solidFill>
          <a:ln>
            <a:solidFill>
              <a:srgbClr val="DCA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74536" y="2231136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2743200"/>
            <a:ext cx="1874519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B3639"/>
                </a:solidFill>
                <a:latin typeface="Aptos"/>
              </a:rPr>
              <a:t>SPARK
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2824" y="3547872"/>
            <a:ext cx="1874519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5D6C6E"/>
                </a:solidFill>
                <a:latin typeface="Aptos"/>
              </a:rPr>
              <a:t>Continuous consume
+ regional aggregation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05088" y="3063240"/>
            <a:ext cx="457200" cy="0"/>
          </a:xfrm>
          <a:prstGeom prst="line">
            <a:avLst/>
          </a:prstGeom>
          <a:ln w="25400">
            <a:solidFill>
              <a:srgbClr val="1F7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ight Triangle 25"/>
          <p:cNvSpPr/>
          <p:nvPr/>
        </p:nvSpPr>
        <p:spPr>
          <a:xfrm rot="5400000">
            <a:off x="9052560" y="2944368"/>
            <a:ext cx="182880" cy="237744"/>
          </a:xfrm>
          <a:prstGeom prst="rtTriangle">
            <a:avLst/>
          </a:prstGeom>
          <a:solidFill>
            <a:srgbClr val="1F747A"/>
          </a:solidFill>
          <a:ln>
            <a:solidFill>
              <a:srgbClr val="1F7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217152" y="1874519"/>
            <a:ext cx="2331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27464" y="2121408"/>
            <a:ext cx="457200" cy="457200"/>
          </a:xfrm>
          <a:prstGeom prst="ellipse">
            <a:avLst/>
          </a:prstGeom>
          <a:solidFill>
            <a:srgbClr val="1B3639"/>
          </a:solidFill>
          <a:ln>
            <a:solidFill>
              <a:srgbClr val="1B3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27464" y="2231136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5752" y="2743200"/>
            <a:ext cx="1874519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B3639"/>
                </a:solidFill>
                <a:latin typeface="Aptos"/>
              </a:rPr>
              <a:t>ROLLING
TRENDS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547872"/>
            <a:ext cx="1874519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5D6C6E"/>
                </a:solidFill>
                <a:latin typeface="Aptos"/>
              </a:rPr>
              <a:t>Live case/death
totals by region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88720" y="4800600"/>
            <a:ext cx="9784080" cy="731520"/>
          </a:xfrm>
          <a:prstGeom prst="roundRect">
            <a:avLst/>
          </a:prstGeom>
          <a:solidFill>
            <a:srgbClr val="DAEFEC"/>
          </a:solidFill>
          <a:ln>
            <a:solidFill>
              <a:srgbClr val="DA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17320" y="4956048"/>
            <a:ext cx="1508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F747A"/>
                </a:solidFill>
                <a:latin typeface="Aptos"/>
              </a:rPr>
              <a:t>Why this design?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4882896"/>
            <a:ext cx="78181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B3639"/>
                </a:solidFill>
                <a:latin typeface="Aptos"/>
              </a:rPr>
              <a:t>Kafka decouples “data arriving” from “data being processed,” helping prevent data loss when processing is temporarily delayed.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F747A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56032"/>
            <a:ext cx="99669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B3639"/>
                </a:solidFill>
                <a:latin typeface="Aptos"/>
              </a:rPr>
              <a:t>Implementation 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96112"/>
            <a:ext cx="11183112" cy="0"/>
          </a:xfrm>
          <a:prstGeom prst="line">
            <a:avLst/>
          </a:prstGeom>
          <a:ln w="12700">
            <a:solidFill>
              <a:srgbClr val="E8E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987552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D6C6E"/>
                </a:solidFill>
                <a:latin typeface="Aptos"/>
              </a:rPr>
              <a:t>The prototype follows a simple producer → stream processor → trend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325880"/>
            <a:ext cx="438912" cy="438912"/>
          </a:xfrm>
          <a:prstGeom prst="ellipse">
            <a:avLst/>
          </a:prstGeom>
          <a:solidFill>
            <a:srgbClr val="1F747A"/>
          </a:solidFill>
          <a:ln>
            <a:solidFill>
              <a:srgbClr val="1F7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35607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96696" y="1764792"/>
            <a:ext cx="0" cy="475488"/>
          </a:xfrm>
          <a:prstGeom prst="line">
            <a:avLst/>
          </a:prstGeom>
          <a:ln w="25400">
            <a:solidFill>
              <a:srgbClr val="E8E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63040" y="1344168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B3639"/>
                </a:solidFill>
                <a:latin typeface="Aptos"/>
              </a:rPr>
              <a:t>Prepare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307592"/>
            <a:ext cx="78181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CSV contains case reports across 5 regions over 60 days.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438912" cy="438912"/>
          </a:xfrm>
          <a:prstGeom prst="ellipse">
            <a:avLst/>
          </a:prstGeom>
          <a:solidFill>
            <a:srgbClr val="1F747A"/>
          </a:solidFill>
          <a:ln>
            <a:solidFill>
              <a:srgbClr val="1F7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350008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6696" y="2679192"/>
            <a:ext cx="0" cy="475488"/>
          </a:xfrm>
          <a:prstGeom prst="line">
            <a:avLst/>
          </a:prstGeom>
          <a:ln w="25400">
            <a:solidFill>
              <a:srgbClr val="E8E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63040" y="2258568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B3639"/>
                </a:solidFill>
                <a:latin typeface="Aptos"/>
              </a:rPr>
              <a:t>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221992"/>
            <a:ext cx="78181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Python reads records and publishes them one by one to a Kafka topic.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154680"/>
            <a:ext cx="438912" cy="438912"/>
          </a:xfrm>
          <a:prstGeom prst="ellipse">
            <a:avLst/>
          </a:prstGeom>
          <a:solidFill>
            <a:srgbClr val="1F747A"/>
          </a:solidFill>
          <a:ln>
            <a:solidFill>
              <a:srgbClr val="1F7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264408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6696" y="3593592"/>
            <a:ext cx="0" cy="475488"/>
          </a:xfrm>
          <a:prstGeom prst="line">
            <a:avLst/>
          </a:prstGeom>
          <a:ln w="25400">
            <a:solidFill>
              <a:srgbClr val="E8E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63040" y="3172968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B3639"/>
                </a:solidFill>
                <a:latin typeface="Aptos"/>
              </a:rPr>
              <a:t>Consume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136392"/>
            <a:ext cx="78181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Spark Structured Streaming continuously reads the Kafka events.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069080"/>
            <a:ext cx="438912" cy="438912"/>
          </a:xfrm>
          <a:prstGeom prst="ellipse">
            <a:avLst/>
          </a:prstGeom>
          <a:solidFill>
            <a:srgbClr val="1F747A"/>
          </a:solidFill>
          <a:ln>
            <a:solidFill>
              <a:srgbClr val="1F7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178808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96696" y="4507992"/>
            <a:ext cx="0" cy="475488"/>
          </a:xfrm>
          <a:prstGeom prst="line">
            <a:avLst/>
          </a:prstGeom>
          <a:ln w="25400">
            <a:solidFill>
              <a:srgbClr val="E8E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63040" y="4087368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B3639"/>
                </a:solidFill>
                <a:latin typeface="Aptos"/>
              </a:rPr>
              <a:t>Aggregate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050792"/>
            <a:ext cx="78181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Spark computes case/death totals for each region as events arrive.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4983480"/>
            <a:ext cx="438912" cy="438912"/>
          </a:xfrm>
          <a:prstGeom prst="ellipse">
            <a:avLst/>
          </a:prstGeom>
          <a:solidFill>
            <a:srgbClr val="1B3639"/>
          </a:solidFill>
          <a:ln>
            <a:solidFill>
              <a:srgbClr val="1B3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093208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001768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B3639"/>
                </a:solidFill>
                <a:latin typeface="Aptos"/>
              </a:rPr>
              <a:t>Observe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965192"/>
            <a:ext cx="78181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Rolling trends provide a continuously updated view of incoming health data.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1160" y="1371600"/>
            <a:ext cx="2057400" cy="2971800"/>
          </a:xfrm>
          <a:prstGeom prst="roundRect">
            <a:avLst/>
          </a:prstGeom>
          <a:solidFill>
            <a:srgbClr val="EDF7F5"/>
          </a:solidFill>
          <a:ln>
            <a:solidFill>
              <a:srgbClr val="ED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82912" y="1664208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1F747A"/>
                </a:solidFill>
                <a:latin typeface="Aptos"/>
              </a:rPr>
              <a:t>DATA 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46920" y="2057400"/>
            <a:ext cx="1234440" cy="347472"/>
          </a:xfrm>
          <a:prstGeom prst="roundRect">
            <a:avLst/>
          </a:prstGeom>
          <a:solidFill>
            <a:srgbClr val="E8745B"/>
          </a:solidFill>
          <a:ln>
            <a:solidFill>
              <a:srgbClr val="E8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92640" y="2093976"/>
            <a:ext cx="11430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CSV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46920" y="2496312"/>
            <a:ext cx="1234440" cy="347472"/>
          </a:xfrm>
          <a:prstGeom prst="roundRect">
            <a:avLst/>
          </a:prstGeom>
          <a:solidFill>
            <a:srgbClr val="DCA948"/>
          </a:solidFill>
          <a:ln>
            <a:solidFill>
              <a:srgbClr val="DCA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92640" y="2532888"/>
            <a:ext cx="11430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46920" y="2935224"/>
            <a:ext cx="1234440" cy="347472"/>
          </a:xfrm>
          <a:prstGeom prst="roundRect">
            <a:avLst/>
          </a:prstGeom>
          <a:solidFill>
            <a:srgbClr val="1F747A"/>
          </a:solidFill>
          <a:ln>
            <a:solidFill>
              <a:srgbClr val="1F7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92640" y="2971800"/>
            <a:ext cx="11430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Kafka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46920" y="3374136"/>
            <a:ext cx="1234440" cy="347472"/>
          </a:xfrm>
          <a:prstGeom prst="roundRect">
            <a:avLst/>
          </a:prstGeom>
          <a:solidFill>
            <a:srgbClr val="DCA948"/>
          </a:solidFill>
          <a:ln>
            <a:solidFill>
              <a:srgbClr val="DCA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92640" y="3410712"/>
            <a:ext cx="11430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Spark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46920" y="3813048"/>
            <a:ext cx="1234440" cy="347472"/>
          </a:xfrm>
          <a:prstGeom prst="roundRect">
            <a:avLst/>
          </a:prstGeom>
          <a:solidFill>
            <a:srgbClr val="1B3639"/>
          </a:solidFill>
          <a:ln>
            <a:solidFill>
              <a:srgbClr val="1B3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92640" y="3849624"/>
            <a:ext cx="11430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F747A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56032"/>
            <a:ext cx="99669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B3639"/>
                </a:solidFill>
                <a:latin typeface="Aptos"/>
              </a:rPr>
              <a:t>Expected Outcomes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96112"/>
            <a:ext cx="11183112" cy="0"/>
          </a:xfrm>
          <a:prstGeom prst="line">
            <a:avLst/>
          </a:prstGeom>
          <a:ln w="12700">
            <a:solidFill>
              <a:srgbClr val="E8E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987552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D6C6E"/>
                </a:solidFill>
                <a:latin typeface="Aptos"/>
              </a:rPr>
              <a:t>What the prototype demonstrates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737360"/>
            <a:ext cx="530352" cy="530352"/>
          </a:xfrm>
          <a:prstGeom prst="ellipse">
            <a:avLst/>
          </a:prstGeom>
          <a:solidFill>
            <a:srgbClr val="1F747A"/>
          </a:solidFill>
          <a:ln>
            <a:solidFill>
              <a:srgbClr val="1F7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56232"/>
            <a:ext cx="5303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73352"/>
            <a:ext cx="3657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B3639"/>
                </a:solidFill>
                <a:latin typeface="Aptos"/>
              </a:rPr>
              <a:t>Faster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30552"/>
            <a:ext cx="36576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New events can be processed continuously rather than waiting for a full batch.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92240" y="1737360"/>
            <a:ext cx="530352" cy="530352"/>
          </a:xfrm>
          <a:prstGeom prst="ellipse">
            <a:avLst/>
          </a:prstGeom>
          <a:solidFill>
            <a:srgbClr val="E8745B"/>
          </a:solidFill>
          <a:ln>
            <a:solidFill>
              <a:srgbClr val="E8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856232"/>
            <a:ext cx="5303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673352"/>
            <a:ext cx="3657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B3639"/>
                </a:solidFill>
                <a:latin typeface="Aptos"/>
              </a:rPr>
              <a:t>Regional 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130552"/>
            <a:ext cx="36576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Rolling case and death totals can be maintained separately for each region.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0120" y="3886200"/>
            <a:ext cx="530352" cy="530352"/>
          </a:xfrm>
          <a:prstGeom prst="ellipse">
            <a:avLst/>
          </a:prstGeom>
          <a:solidFill>
            <a:srgbClr val="DCA948"/>
          </a:solidFill>
          <a:ln>
            <a:solidFill>
              <a:srgbClr val="DCA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005072"/>
            <a:ext cx="5303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822192"/>
            <a:ext cx="3657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B3639"/>
                </a:solidFill>
                <a:latin typeface="Aptos"/>
              </a:rPr>
              <a:t>Reliable decoupling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79392"/>
            <a:ext cx="36576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Kafka separates incoming data from Spark processing.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6616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92240" y="3886200"/>
            <a:ext cx="530352" cy="530352"/>
          </a:xfrm>
          <a:prstGeom prst="ellipse">
            <a:avLst/>
          </a:prstGeom>
          <a:solidFill>
            <a:srgbClr val="1B3639"/>
          </a:solidFill>
          <a:ln>
            <a:solidFill>
              <a:srgbClr val="1B3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4005072"/>
            <a:ext cx="5303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822192"/>
            <a:ext cx="3657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B3639"/>
                </a:solidFill>
                <a:latin typeface="Aptos"/>
              </a:rPr>
              <a:t>Scalable foundation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279392"/>
            <a:ext cx="36576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The architecture can be extended with storage, dashboards or alerts.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F747A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56032"/>
            <a:ext cx="99669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B3639"/>
                </a:solidFill>
                <a:latin typeface="Aptos"/>
              </a:rPr>
              <a:t>Future Scope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96112"/>
            <a:ext cx="11183112" cy="0"/>
          </a:xfrm>
          <a:prstGeom prst="line">
            <a:avLst/>
          </a:prstGeom>
          <a:ln w="12700">
            <a:solidFill>
              <a:srgbClr val="E8E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987552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D6C6E"/>
                </a:solidFill>
                <a:latin typeface="Aptos"/>
              </a:rPr>
              <a:t>Natural next steps without changing the core streaming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600200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747A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611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B3639"/>
                </a:solidFill>
                <a:latin typeface="Aptos"/>
              </a:rPr>
              <a:t>Live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029967"/>
            <a:ext cx="36118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Connect the processed stream to a dashboard for real-time regional monitoring.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0292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600200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747A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554480"/>
            <a:ext cx="3611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B3639"/>
                </a:solidFill>
                <a:latin typeface="Aptos"/>
              </a:rPr>
              <a:t>Persistent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029967"/>
            <a:ext cx="36118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Store processed results in a database for historical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0292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703320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747A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657600"/>
            <a:ext cx="3611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B3639"/>
                </a:solidFill>
                <a:latin typeface="Aptos"/>
              </a:rPr>
              <a:t>Automated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33087"/>
            <a:ext cx="36118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Trigger outbreak notifications when configured thresholds are exceeded.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50292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3703320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747A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657600"/>
            <a:ext cx="3611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B3639"/>
                </a:solidFill>
                <a:latin typeface="Aptos"/>
              </a:rPr>
              <a:t>Prediction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133087"/>
            <a:ext cx="36118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D6C6E"/>
                </a:solidFill>
                <a:latin typeface="Aptos"/>
              </a:rPr>
              <a:t>Add an ML model on top of the engineered stream to move from trend monitoring toward forecasting.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74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966960" y="-548640"/>
            <a:ext cx="2834640" cy="2834640"/>
          </a:xfrm>
          <a:prstGeom prst="ellipse">
            <a:avLst/>
          </a:prstGeom>
          <a:solidFill>
            <a:srgbClr val="34898E"/>
          </a:solidFill>
          <a:ln>
            <a:solidFill>
              <a:srgbClr val="34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194560" cy="2194560"/>
          </a:xfrm>
          <a:prstGeom prst="ellipse">
            <a:avLst/>
          </a:prstGeom>
          <a:solidFill>
            <a:srgbClr val="2C8186"/>
          </a:solidFill>
          <a:ln>
            <a:solidFill>
              <a:srgbClr val="2C8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46705" y="2715768"/>
            <a:ext cx="8165590" cy="11510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0" b="1" i="0" dirty="0">
                <a:solidFill>
                  <a:srgbClr val="DAEFEC"/>
                </a:solidFill>
                <a:latin typeface="Aptos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928616"/>
            <a:ext cx="2926079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 dirty="0">
                <a:solidFill>
                  <a:srgbClr val="1F747A"/>
                </a:solidFill>
                <a:latin typeface="Aptos"/>
              </a:rPr>
              <a:t>DATA ENGINEERING FOR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634</Words>
  <Application>Microsoft Office PowerPoint</Application>
  <PresentationFormat>Widescreen</PresentationFormat>
  <Paragraphs>139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Engineering Pipeline for Public Health Trend Prediction</dc:title>
  <dc:subject>Real-Time Data Streaming using Apache Kafka &amp; Apache Spark</dc:subject>
  <dc:creator>B Vaishnavi; S Lahari Krishna; K. Yasaswi</dc:creator>
  <cp:keywords/>
  <dc:description>generated using python-pptx</dc:description>
  <cp:lastModifiedBy>Yasaswi Kakunuri</cp:lastModifiedBy>
  <cp:revision>4</cp:revision>
  <dcterms:created xsi:type="dcterms:W3CDTF">2013-01-27T09:14:16Z</dcterms:created>
  <dcterms:modified xsi:type="dcterms:W3CDTF">2026-08-08T05:20:47Z</dcterms:modified>
  <cp:category/>
</cp:coreProperties>
</file>