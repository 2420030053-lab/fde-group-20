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1.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4"/>
    <p:sldId id="300" r:id="rId17"/>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3.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554480"/>
            <a:ext cx="11094415" cy="274320"/>
          </a:xfrm>
          <a:prstGeom prst="rect">
            <a:avLst/>
          </a:prstGeom>
          <a:noFill/>
          <a:ln/>
        </p:spPr>
        <p:txBody>
          <a:bodyPr wrap="square" lIns="0" tIns="0" rIns="0" bIns="0" rtlCol="0" anchor="ctr"/>
          <a:lstStyle/>
          <a:p>
            <a:pPr indent="0" marL="0">
              <a:buNone/>
            </a:pPr>
            <a:r>
              <a:rPr lang="en-US" sz="1400" b="1" dirty="0">
                <a:solidFill>
                  <a:srgbClr val="6E6E6E"/>
                </a:solidFill>
                <a:latin typeface="Calibri" pitchFamily="34" charset="0"/>
                <a:ea typeface="Calibri" pitchFamily="34" charset="-122"/>
                <a:cs typeface="Calibri" pitchFamily="34" charset="-120"/>
              </a:rPr>
              <a:t>FUNDAMENTALS OF DATA ENGINEERING (24DEA310)</a:t>
            </a:r>
            <a:endParaRPr lang="en-US" sz="1400" dirty="0"/>
          </a:p>
        </p:txBody>
      </p:sp>
      <p:sp>
        <p:nvSpPr>
          <p:cNvPr id="3" name="Text 1"/>
          <p:cNvSpPr txBox="1"/>
          <p:nvPr/>
        </p:nvSpPr>
        <p:spPr>
          <a:xfrm>
            <a:off x="548640" y="1874520"/>
            <a:ext cx="11094415" cy="822960"/>
          </a:xfrm>
          <a:prstGeom prst="rect">
            <a:avLst/>
          </a:prstGeom>
          <a:noFill/>
          <a:ln/>
        </p:spPr>
        <p:txBody>
          <a:bodyPr wrap="square" lIns="0" tIns="0" rIns="0" bIns="0" rtlCol="0" anchor="ctr"/>
          <a:lstStyle/>
          <a:p>
            <a:pPr indent="0" marL="0">
              <a:buNone/>
            </a:pPr>
            <a:r>
              <a:rPr lang="en-US" sz="3000" b="1" dirty="0">
                <a:solidFill>
                  <a:srgbClr val="1F3B4D"/>
                </a:solidFill>
                <a:latin typeface="Calibri" pitchFamily="34" charset="0"/>
                <a:ea typeface="Calibri" pitchFamily="34" charset="-122"/>
                <a:cs typeface="Calibri" pitchFamily="34" charset="-120"/>
              </a:rPr>
              <a:t>Data Engineering Pipeline for Public Health Trend Prediction</a:t>
            </a:r>
            <a:endParaRPr lang="en-US" sz="3000" dirty="0"/>
          </a:p>
        </p:txBody>
      </p:sp>
      <p:sp>
        <p:nvSpPr>
          <p:cNvPr id="4" name="Text 2"/>
          <p:cNvSpPr txBox="1"/>
          <p:nvPr/>
        </p:nvSpPr>
        <p:spPr>
          <a:xfrm>
            <a:off x="548640" y="2606040"/>
            <a:ext cx="11094415" cy="365760"/>
          </a:xfrm>
          <a:prstGeom prst="rect">
            <a:avLst/>
          </a:prstGeom>
          <a:noFill/>
          <a:ln/>
        </p:spPr>
        <p:txBody>
          <a:bodyPr wrap="square" lIns="0" tIns="0" rIns="0" bIns="0" rtlCol="0" anchor="ctr"/>
          <a:lstStyle/>
          <a:p>
            <a:pPr indent="0" marL="0">
              <a:buNone/>
            </a:pPr>
            <a:r>
              <a:rPr lang="en-US" sz="1600" i="1" dirty="0">
                <a:solidFill>
                  <a:srgbClr val="6E6E6E"/>
                </a:solidFill>
                <a:latin typeface="Calibri" pitchFamily="34" charset="0"/>
                <a:ea typeface="Calibri" pitchFamily="34" charset="-122"/>
                <a:cs typeface="Calibri" pitchFamily="34" charset="-120"/>
              </a:rPr>
              <a:t>Review 3 — Methodology, Tools, Implementation &amp; Functionality</a:t>
            </a:r>
            <a:endParaRPr lang="en-US" sz="1600" dirty="0"/>
          </a:p>
        </p:txBody>
      </p:sp>
      <p:sp>
        <p:nvSpPr>
          <p:cNvPr id="5" name="Text 3"/>
          <p:cNvSpPr txBox="1"/>
          <p:nvPr/>
        </p:nvSpPr>
        <p:spPr>
          <a:xfrm>
            <a:off x="548640" y="3566160"/>
            <a:ext cx="2743200" cy="320040"/>
          </a:xfrm>
          <a:prstGeom prst="rect">
            <a:avLst/>
          </a:prstGeom>
          <a:noFill/>
          <a:ln/>
        </p:spPr>
        <p:txBody>
          <a:bodyPr wrap="square" lIns="0" tIns="0" rIns="0" bIns="0" rtlCol="0" anchor="ctr"/>
          <a:lstStyle/>
          <a:p>
            <a:pPr indent="0" marL="0">
              <a:buNone/>
            </a:pPr>
            <a:r>
              <a:rPr lang="en-US" sz="1500" b="1" dirty="0">
                <a:solidFill>
                  <a:srgbClr val="1F3B4D"/>
                </a:solidFill>
                <a:latin typeface="Calibri" pitchFamily="34" charset="0"/>
                <a:ea typeface="Calibri" pitchFamily="34" charset="-122"/>
                <a:cs typeface="Calibri" pitchFamily="34" charset="-120"/>
              </a:rPr>
              <a:t>Project Team</a:t>
            </a:r>
            <a:endParaRPr lang="en-US" sz="1500" dirty="0"/>
          </a:p>
        </p:txBody>
      </p:sp>
      <p:sp>
        <p:nvSpPr>
          <p:cNvPr id="6" name="Text 4"/>
          <p:cNvSpPr txBox="1"/>
          <p:nvPr/>
        </p:nvSpPr>
        <p:spPr>
          <a:xfrm>
            <a:off x="548640" y="3931920"/>
            <a:ext cx="2926080" cy="292608"/>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B. Vaishnavi</a:t>
            </a:r>
            <a:endParaRPr lang="en-US" sz="1300" dirty="0"/>
          </a:p>
        </p:txBody>
      </p:sp>
      <p:sp>
        <p:nvSpPr>
          <p:cNvPr id="7" name="Text 5"/>
          <p:cNvSpPr txBox="1"/>
          <p:nvPr/>
        </p:nvSpPr>
        <p:spPr>
          <a:xfrm>
            <a:off x="3474720" y="3931920"/>
            <a:ext cx="1828800" cy="292608"/>
          </a:xfrm>
          <a:prstGeom prst="rect">
            <a:avLst/>
          </a:prstGeom>
          <a:noFill/>
          <a:ln/>
        </p:spPr>
        <p:txBody>
          <a:bodyPr wrap="square" lIns="0" tIns="0" rIns="0" bIns="0" rtlCol="0" anchor="ctr"/>
          <a:lstStyle/>
          <a:p>
            <a:pPr indent="0" marL="0">
              <a:buNone/>
            </a:pPr>
            <a:r>
              <a:rPr lang="en-US" sz="1300" dirty="0">
                <a:solidFill>
                  <a:srgbClr val="6E6E6E"/>
                </a:solidFill>
                <a:latin typeface="Calibri" pitchFamily="34" charset="0"/>
                <a:ea typeface="Calibri" pitchFamily="34" charset="-122"/>
                <a:cs typeface="Calibri" pitchFamily="34" charset="-120"/>
              </a:rPr>
              <a:t>2420090026</a:t>
            </a:r>
            <a:endParaRPr lang="en-US" sz="1300" dirty="0"/>
          </a:p>
        </p:txBody>
      </p:sp>
      <p:sp>
        <p:nvSpPr>
          <p:cNvPr id="8" name="Text 6"/>
          <p:cNvSpPr txBox="1"/>
          <p:nvPr/>
        </p:nvSpPr>
        <p:spPr>
          <a:xfrm>
            <a:off x="548640" y="4251960"/>
            <a:ext cx="2926080" cy="292608"/>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S. Lahari Krishna</a:t>
            </a:r>
            <a:endParaRPr lang="en-US" sz="1300" dirty="0"/>
          </a:p>
        </p:txBody>
      </p:sp>
      <p:sp>
        <p:nvSpPr>
          <p:cNvPr id="9" name="Text 7"/>
          <p:cNvSpPr txBox="1"/>
          <p:nvPr/>
        </p:nvSpPr>
        <p:spPr>
          <a:xfrm>
            <a:off x="3474720" y="4251960"/>
            <a:ext cx="1828800" cy="292608"/>
          </a:xfrm>
          <a:prstGeom prst="rect">
            <a:avLst/>
          </a:prstGeom>
          <a:noFill/>
          <a:ln/>
        </p:spPr>
        <p:txBody>
          <a:bodyPr wrap="square" lIns="0" tIns="0" rIns="0" bIns="0" rtlCol="0" anchor="ctr"/>
          <a:lstStyle/>
          <a:p>
            <a:pPr indent="0" marL="0">
              <a:buNone/>
            </a:pPr>
            <a:r>
              <a:rPr lang="en-US" sz="1300" dirty="0">
                <a:solidFill>
                  <a:srgbClr val="6E6E6E"/>
                </a:solidFill>
                <a:latin typeface="Calibri" pitchFamily="34" charset="0"/>
                <a:ea typeface="Calibri" pitchFamily="34" charset="-122"/>
                <a:cs typeface="Calibri" pitchFamily="34" charset="-120"/>
              </a:rPr>
              <a:t>2420090055</a:t>
            </a:r>
            <a:endParaRPr lang="en-US" sz="1300" dirty="0"/>
          </a:p>
        </p:txBody>
      </p:sp>
      <p:sp>
        <p:nvSpPr>
          <p:cNvPr id="10" name="Text 8"/>
          <p:cNvSpPr txBox="1"/>
          <p:nvPr/>
        </p:nvSpPr>
        <p:spPr>
          <a:xfrm>
            <a:off x="548640" y="4572000"/>
            <a:ext cx="2926080" cy="292608"/>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K. Yasaswi</a:t>
            </a:r>
            <a:endParaRPr lang="en-US" sz="1300" dirty="0"/>
          </a:p>
        </p:txBody>
      </p:sp>
      <p:sp>
        <p:nvSpPr>
          <p:cNvPr id="11" name="Text 9"/>
          <p:cNvSpPr txBox="1"/>
          <p:nvPr/>
        </p:nvSpPr>
        <p:spPr>
          <a:xfrm>
            <a:off x="3474720" y="4572000"/>
            <a:ext cx="1828800" cy="292608"/>
          </a:xfrm>
          <a:prstGeom prst="rect">
            <a:avLst/>
          </a:prstGeom>
          <a:noFill/>
          <a:ln/>
        </p:spPr>
        <p:txBody>
          <a:bodyPr wrap="square" lIns="0" tIns="0" rIns="0" bIns="0" rtlCol="0" anchor="ctr"/>
          <a:lstStyle/>
          <a:p>
            <a:pPr indent="0" marL="0">
              <a:buNone/>
            </a:pPr>
            <a:r>
              <a:rPr lang="en-US" sz="1300" dirty="0">
                <a:solidFill>
                  <a:srgbClr val="6E6E6E"/>
                </a:solidFill>
                <a:latin typeface="Calibri" pitchFamily="34" charset="0"/>
                <a:ea typeface="Calibri" pitchFamily="34" charset="-122"/>
                <a:cs typeface="Calibri" pitchFamily="34" charset="-120"/>
              </a:rPr>
              <a:t>2420030053</a:t>
            </a:r>
            <a:endParaRPr lang="en-US" sz="1300" dirty="0"/>
          </a:p>
        </p:txBody>
      </p:sp>
      <p:sp>
        <p:nvSpPr>
          <p:cNvPr id="12" name="Text 10"/>
          <p:cNvSpPr txBox="1"/>
          <p:nvPr/>
        </p:nvSpPr>
        <p:spPr>
          <a:xfrm>
            <a:off x="548640" y="5074920"/>
            <a:ext cx="4572000" cy="320040"/>
          </a:xfrm>
          <a:prstGeom prst="rect">
            <a:avLst/>
          </a:prstGeom>
          <a:noFill/>
          <a:ln/>
        </p:spPr>
        <p:txBody>
          <a:bodyPr wrap="square" lIns="0" tIns="0" rIns="0" bIns="0" rtlCol="0" anchor="ctr"/>
          <a:lstStyle/>
          <a:p>
            <a:pPr indent="0" marL="0">
              <a:buNone/>
            </a:pPr>
            <a:r>
              <a:rPr lang="en-US" sz="1400" b="1" dirty="0">
                <a:solidFill>
                  <a:srgbClr val="1F3B4D"/>
                </a:solidFill>
                <a:latin typeface="Calibri" pitchFamily="34" charset="0"/>
                <a:ea typeface="Calibri" pitchFamily="34" charset="-122"/>
                <a:cs typeface="Calibri" pitchFamily="34" charset="-120"/>
              </a:rPr>
              <a:t>Guide: Dr. N Sirisha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spc="100" kern="0" dirty="0">
                <a:solidFill>
                  <a:srgbClr val="6E6E6E"/>
                </a:solidFill>
                <a:latin typeface="Calibri" pitchFamily="34" charset="0"/>
                <a:ea typeface="Calibri" pitchFamily="34" charset="-122"/>
                <a:cs typeface="Calibri" pitchFamily="34" charset="-120"/>
              </a:rPr>
              <a:t>METHODOLOGY, SYSTEM DESIGN &amp; ARCHITECTURE</a:t>
            </a:r>
            <a:endParaRPr lang="en-US" sz="1300" dirty="0"/>
          </a:p>
        </p:txBody>
      </p:sp>
      <p:sp>
        <p:nvSpPr>
          <p:cNvPr id="3" name="Text 1"/>
          <p:cNvSpPr txBox="1"/>
          <p:nvPr/>
        </p:nvSpPr>
        <p:spPr>
          <a:xfrm>
            <a:off x="548640" y="685800"/>
            <a:ext cx="11094415" cy="548640"/>
          </a:xfrm>
          <a:prstGeom prst="rect">
            <a:avLst/>
          </a:prstGeom>
          <a:noFill/>
          <a:ln/>
        </p:spPr>
        <p:txBody>
          <a:bodyPr wrap="square" lIns="0" tIns="0" rIns="0" bIns="0" rtlCol="0" anchor="ctr"/>
          <a:lstStyle/>
          <a:p>
            <a:pPr indent="0" marL="0">
              <a:buNone/>
            </a:pPr>
            <a:r>
              <a:rPr lang="en-US" sz="2600" b="1" dirty="0">
                <a:solidFill>
                  <a:srgbClr val="1F3B4D"/>
                </a:solidFill>
                <a:latin typeface="Calibri" pitchFamily="34" charset="0"/>
                <a:ea typeface="Calibri" pitchFamily="34" charset="-122"/>
                <a:cs typeface="Calibri" pitchFamily="34" charset="-120"/>
              </a:rPr>
              <a:t>Methodology and System Design</a:t>
            </a:r>
            <a:endParaRPr lang="en-US" sz="2600" dirty="0"/>
          </a:p>
        </p:txBody>
      </p:sp>
      <p:sp>
        <p:nvSpPr>
          <p:cNvPr id="4" name="Shape 2"/>
          <p:cNvSpPr/>
          <p:nvPr/>
        </p:nvSpPr>
        <p:spPr>
          <a:xfrm>
            <a:off x="548640" y="1554480"/>
            <a:ext cx="2602154" cy="502920"/>
          </a:xfrm>
          <a:prstGeom prst="roundRect">
            <a:avLst>
              <a:gd name="adj" fmla="val 10909"/>
            </a:avLst>
          </a:prstGeom>
          <a:solidFill>
            <a:srgbClr val="1F3B4D"/>
          </a:solidFill>
          <a:ln/>
        </p:spPr>
      </p:sp>
      <p:sp>
        <p:nvSpPr>
          <p:cNvPr id="5" name="Text 3"/>
          <p:cNvSpPr txBox="1"/>
          <p:nvPr/>
        </p:nvSpPr>
        <p:spPr>
          <a:xfrm>
            <a:off x="685800" y="1554480"/>
            <a:ext cx="2327834"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1   Ingest</a:t>
            </a:r>
            <a:endParaRPr lang="en-US" sz="1400" dirty="0"/>
          </a:p>
        </p:txBody>
      </p:sp>
      <p:sp>
        <p:nvSpPr>
          <p:cNvPr id="6" name="Shape 4"/>
          <p:cNvSpPr/>
          <p:nvPr/>
        </p:nvSpPr>
        <p:spPr>
          <a:xfrm>
            <a:off x="548640" y="2148840"/>
            <a:ext cx="2602154" cy="2331720"/>
          </a:xfrm>
          <a:prstGeom prst="roundRect">
            <a:avLst>
              <a:gd name="adj" fmla="val 2353"/>
            </a:avLst>
          </a:prstGeom>
          <a:solidFill>
            <a:srgbClr val="F4F6F7"/>
          </a:solidFill>
          <a:ln/>
        </p:spPr>
      </p:sp>
      <p:sp>
        <p:nvSpPr>
          <p:cNvPr id="7" name="Text 5"/>
          <p:cNvSpPr txBox="1"/>
          <p:nvPr/>
        </p:nvSpPr>
        <p:spPr>
          <a:xfrm>
            <a:off x="713232" y="2331720"/>
            <a:ext cx="2272970" cy="2011680"/>
          </a:xfrm>
          <a:prstGeom prst="rect">
            <a:avLst/>
          </a:prstGeom>
          <a:noFill/>
          <a:ln/>
        </p:spPr>
        <p:txBody>
          <a:bodyPr wrap="square" lIns="0" tIns="0" rIns="0" bIns="0" rtlCol="0" anchor="t"/>
          <a:lstStyle/>
          <a:p>
            <a:pPr indent="0" marL="0">
              <a:lnSpc>
                <a:spcPct val="115000"/>
              </a:lnSpc>
              <a:buNone/>
            </a:pPr>
            <a:r>
              <a:rPr lang="en-US" sz="1150" dirty="0">
                <a:solidFill>
                  <a:srgbClr val="2B2B2B"/>
                </a:solidFill>
                <a:latin typeface="Calibri" pitchFamily="34" charset="0"/>
                <a:ea typeface="Calibri" pitchFamily="34" charset="-122"/>
                <a:cs typeface="Calibri" pitchFamily="34" charset="-120"/>
              </a:rPr>
              <a:t>A Python producer reads the 5-region, 60-day CSV dataset row by row and publishes each record as a JSON event, simulating live arrivals instead of a batch upload.</a:t>
            </a:r>
            <a:endParaRPr lang="en-US" sz="1150" dirty="0"/>
          </a:p>
        </p:txBody>
      </p:sp>
      <p:sp>
        <p:nvSpPr>
          <p:cNvPr id="8" name="Shape 6"/>
          <p:cNvSpPr/>
          <p:nvPr/>
        </p:nvSpPr>
        <p:spPr>
          <a:xfrm>
            <a:off x="3379394" y="1554480"/>
            <a:ext cx="2602154" cy="502920"/>
          </a:xfrm>
          <a:prstGeom prst="roundRect">
            <a:avLst>
              <a:gd name="adj" fmla="val 10909"/>
            </a:avLst>
          </a:prstGeom>
          <a:solidFill>
            <a:srgbClr val="1F3B4D"/>
          </a:solidFill>
          <a:ln/>
        </p:spPr>
      </p:sp>
      <p:sp>
        <p:nvSpPr>
          <p:cNvPr id="9" name="Text 7"/>
          <p:cNvSpPr txBox="1"/>
          <p:nvPr/>
        </p:nvSpPr>
        <p:spPr>
          <a:xfrm>
            <a:off x="3516554" y="1554480"/>
            <a:ext cx="2327834"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2   Decouple</a:t>
            </a:r>
            <a:endParaRPr lang="en-US" sz="1400" dirty="0"/>
          </a:p>
        </p:txBody>
      </p:sp>
      <p:sp>
        <p:nvSpPr>
          <p:cNvPr id="10" name="Shape 8"/>
          <p:cNvSpPr/>
          <p:nvPr/>
        </p:nvSpPr>
        <p:spPr>
          <a:xfrm>
            <a:off x="3379394" y="2148840"/>
            <a:ext cx="2602154" cy="2331720"/>
          </a:xfrm>
          <a:prstGeom prst="roundRect">
            <a:avLst>
              <a:gd name="adj" fmla="val 2353"/>
            </a:avLst>
          </a:prstGeom>
          <a:solidFill>
            <a:srgbClr val="F4F6F7"/>
          </a:solidFill>
          <a:ln/>
        </p:spPr>
      </p:sp>
      <p:sp>
        <p:nvSpPr>
          <p:cNvPr id="11" name="Text 9"/>
          <p:cNvSpPr txBox="1"/>
          <p:nvPr/>
        </p:nvSpPr>
        <p:spPr>
          <a:xfrm>
            <a:off x="3543986" y="2331720"/>
            <a:ext cx="2272970" cy="2011680"/>
          </a:xfrm>
          <a:prstGeom prst="rect">
            <a:avLst/>
          </a:prstGeom>
          <a:noFill/>
          <a:ln/>
        </p:spPr>
        <p:txBody>
          <a:bodyPr wrap="square" lIns="0" tIns="0" rIns="0" bIns="0" rtlCol="0" anchor="t"/>
          <a:lstStyle/>
          <a:p>
            <a:pPr indent="0" marL="0">
              <a:lnSpc>
                <a:spcPct val="115000"/>
              </a:lnSpc>
              <a:buNone/>
            </a:pPr>
            <a:r>
              <a:rPr lang="en-US" sz="1150" dirty="0">
                <a:solidFill>
                  <a:srgbClr val="2B2B2B"/>
                </a:solidFill>
                <a:latin typeface="Calibri" pitchFamily="34" charset="0"/>
                <a:ea typeface="Calibri" pitchFamily="34" charset="-122"/>
                <a:cs typeface="Calibri" pitchFamily="34" charset="-120"/>
              </a:rPr>
              <a:t>Apache Kafka receives every event on a dedicated topic, partitioned by region, so producers and downstream consumers never block on each other.</a:t>
            </a:r>
            <a:endParaRPr lang="en-US" sz="1150" dirty="0"/>
          </a:p>
        </p:txBody>
      </p:sp>
      <p:sp>
        <p:nvSpPr>
          <p:cNvPr id="12" name="Shape 10"/>
          <p:cNvSpPr/>
          <p:nvPr/>
        </p:nvSpPr>
        <p:spPr>
          <a:xfrm>
            <a:off x="6210148" y="1554480"/>
            <a:ext cx="2602154" cy="502920"/>
          </a:xfrm>
          <a:prstGeom prst="roundRect">
            <a:avLst>
              <a:gd name="adj" fmla="val 10909"/>
            </a:avLst>
          </a:prstGeom>
          <a:solidFill>
            <a:srgbClr val="1F3B4D"/>
          </a:solidFill>
          <a:ln/>
        </p:spPr>
      </p:sp>
      <p:sp>
        <p:nvSpPr>
          <p:cNvPr id="13" name="Text 11"/>
          <p:cNvSpPr txBox="1"/>
          <p:nvPr/>
        </p:nvSpPr>
        <p:spPr>
          <a:xfrm>
            <a:off x="6347308" y="1554480"/>
            <a:ext cx="2327834"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3   Process</a:t>
            </a:r>
            <a:endParaRPr lang="en-US" sz="1400" dirty="0"/>
          </a:p>
        </p:txBody>
      </p:sp>
      <p:sp>
        <p:nvSpPr>
          <p:cNvPr id="14" name="Shape 12"/>
          <p:cNvSpPr/>
          <p:nvPr/>
        </p:nvSpPr>
        <p:spPr>
          <a:xfrm>
            <a:off x="6210148" y="2148840"/>
            <a:ext cx="2602154" cy="2331720"/>
          </a:xfrm>
          <a:prstGeom prst="roundRect">
            <a:avLst>
              <a:gd name="adj" fmla="val 2353"/>
            </a:avLst>
          </a:prstGeom>
          <a:solidFill>
            <a:srgbClr val="F4F6F7"/>
          </a:solidFill>
          <a:ln/>
        </p:spPr>
      </p:sp>
      <p:sp>
        <p:nvSpPr>
          <p:cNvPr id="15" name="Text 13"/>
          <p:cNvSpPr txBox="1"/>
          <p:nvPr/>
        </p:nvSpPr>
        <p:spPr>
          <a:xfrm>
            <a:off x="6374740" y="2331720"/>
            <a:ext cx="2272970" cy="2011680"/>
          </a:xfrm>
          <a:prstGeom prst="rect">
            <a:avLst/>
          </a:prstGeom>
          <a:noFill/>
          <a:ln/>
        </p:spPr>
        <p:txBody>
          <a:bodyPr wrap="square" lIns="0" tIns="0" rIns="0" bIns="0" rtlCol="0" anchor="t"/>
          <a:lstStyle/>
          <a:p>
            <a:pPr indent="0" marL="0">
              <a:lnSpc>
                <a:spcPct val="115000"/>
              </a:lnSpc>
              <a:buNone/>
            </a:pPr>
            <a:r>
              <a:rPr lang="en-US" sz="1150" dirty="0">
                <a:solidFill>
                  <a:srgbClr val="2B2B2B"/>
                </a:solidFill>
                <a:latin typeface="Calibri" pitchFamily="34" charset="0"/>
                <a:ea typeface="Calibri" pitchFamily="34" charset="-122"/>
                <a:cs typeface="Calibri" pitchFamily="34" charset="-120"/>
              </a:rPr>
              <a:t>Spark Structured Streaming consumes the topic continuously, parses each event, and applies a windowed group-by on region to keep running case/death totals.</a:t>
            </a:r>
            <a:endParaRPr lang="en-US" sz="1150" dirty="0"/>
          </a:p>
        </p:txBody>
      </p:sp>
      <p:sp>
        <p:nvSpPr>
          <p:cNvPr id="16" name="Shape 14"/>
          <p:cNvSpPr/>
          <p:nvPr/>
        </p:nvSpPr>
        <p:spPr>
          <a:xfrm>
            <a:off x="9040901" y="1554480"/>
            <a:ext cx="2602154" cy="502920"/>
          </a:xfrm>
          <a:prstGeom prst="roundRect">
            <a:avLst>
              <a:gd name="adj" fmla="val 10909"/>
            </a:avLst>
          </a:prstGeom>
          <a:solidFill>
            <a:srgbClr val="1F3B4D"/>
          </a:solidFill>
          <a:ln/>
        </p:spPr>
      </p:sp>
      <p:sp>
        <p:nvSpPr>
          <p:cNvPr id="17" name="Text 15"/>
          <p:cNvSpPr txBox="1"/>
          <p:nvPr/>
        </p:nvSpPr>
        <p:spPr>
          <a:xfrm>
            <a:off x="9178061" y="1554480"/>
            <a:ext cx="2327834"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4   Serve</a:t>
            </a:r>
            <a:endParaRPr lang="en-US" sz="1400" dirty="0"/>
          </a:p>
        </p:txBody>
      </p:sp>
      <p:sp>
        <p:nvSpPr>
          <p:cNvPr id="18" name="Shape 16"/>
          <p:cNvSpPr/>
          <p:nvPr/>
        </p:nvSpPr>
        <p:spPr>
          <a:xfrm>
            <a:off x="9040901" y="2148840"/>
            <a:ext cx="2602154" cy="2331720"/>
          </a:xfrm>
          <a:prstGeom prst="roundRect">
            <a:avLst>
              <a:gd name="adj" fmla="val 2353"/>
            </a:avLst>
          </a:prstGeom>
          <a:solidFill>
            <a:srgbClr val="F4F6F7"/>
          </a:solidFill>
          <a:ln/>
        </p:spPr>
      </p:sp>
      <p:sp>
        <p:nvSpPr>
          <p:cNvPr id="19" name="Text 17"/>
          <p:cNvSpPr txBox="1"/>
          <p:nvPr/>
        </p:nvSpPr>
        <p:spPr>
          <a:xfrm>
            <a:off x="9205493" y="2331720"/>
            <a:ext cx="2272970" cy="2011680"/>
          </a:xfrm>
          <a:prstGeom prst="rect">
            <a:avLst/>
          </a:prstGeom>
          <a:noFill/>
          <a:ln/>
        </p:spPr>
        <p:txBody>
          <a:bodyPr wrap="square" lIns="0" tIns="0" rIns="0" bIns="0" rtlCol="0" anchor="t"/>
          <a:lstStyle/>
          <a:p>
            <a:pPr indent="0" marL="0">
              <a:lnSpc>
                <a:spcPct val="115000"/>
              </a:lnSpc>
              <a:buNone/>
            </a:pPr>
            <a:r>
              <a:rPr lang="en-US" sz="1150" dirty="0">
                <a:solidFill>
                  <a:srgbClr val="2B2B2B"/>
                </a:solidFill>
                <a:latin typeface="Calibri" pitchFamily="34" charset="0"/>
                <a:ea typeface="Calibri" pitchFamily="34" charset="-122"/>
                <a:cs typeface="Calibri" pitchFamily="34" charset="-120"/>
              </a:rPr>
              <a:t>Aggregated results are written to a rolling-trends sink that refreshes as each micro-batch completes, rather than on a fixed daily/weekly schedule.</a:t>
            </a:r>
            <a:endParaRPr lang="en-US" sz="1150" dirty="0"/>
          </a:p>
        </p:txBody>
      </p:sp>
      <p:sp>
        <p:nvSpPr>
          <p:cNvPr id="20" name="Text 18"/>
          <p:cNvSpPr txBox="1"/>
          <p:nvPr/>
        </p:nvSpPr>
        <p:spPr>
          <a:xfrm>
            <a:off x="548640" y="4754880"/>
            <a:ext cx="2743200" cy="320040"/>
          </a:xfrm>
          <a:prstGeom prst="rect">
            <a:avLst/>
          </a:prstGeom>
          <a:noFill/>
          <a:ln/>
        </p:spPr>
        <p:txBody>
          <a:bodyPr wrap="square" lIns="0" tIns="0" rIns="0" bIns="0" rtlCol="0" anchor="ctr"/>
          <a:lstStyle/>
          <a:p>
            <a:pPr indent="0" marL="0">
              <a:buNone/>
            </a:pPr>
            <a:r>
              <a:rPr lang="en-US" sz="1400" b="1" dirty="0">
                <a:solidFill>
                  <a:srgbClr val="1F3B4D"/>
                </a:solidFill>
                <a:latin typeface="Calibri" pitchFamily="34" charset="0"/>
                <a:ea typeface="Calibri" pitchFamily="34" charset="-122"/>
                <a:cs typeface="Calibri" pitchFamily="34" charset="-120"/>
              </a:rPr>
              <a:t>Design principle</a:t>
            </a:r>
            <a:endParaRPr lang="en-US" sz="1400" dirty="0"/>
          </a:p>
        </p:txBody>
      </p:sp>
      <p:sp>
        <p:nvSpPr>
          <p:cNvPr id="21" name="Text 19"/>
          <p:cNvSpPr txBox="1"/>
          <p:nvPr/>
        </p:nvSpPr>
        <p:spPr>
          <a:xfrm>
            <a:off x="548640" y="5120640"/>
            <a:ext cx="11094415" cy="914400"/>
          </a:xfrm>
          <a:prstGeom prst="rect">
            <a:avLst/>
          </a:prstGeom>
          <a:noFill/>
          <a:ln/>
        </p:spPr>
        <p:txBody>
          <a:bodyPr wrap="square" lIns="0" tIns="0" rIns="0" bIns="0" rtlCol="0" anchor="ctr"/>
          <a:lstStyle/>
          <a:p>
            <a:pPr indent="0" marL="0">
              <a:lnSpc>
                <a:spcPct val="120000"/>
              </a:lnSpc>
              <a:buNone/>
            </a:pPr>
            <a:r>
              <a:rPr lang="en-US" sz="1300" dirty="0">
                <a:solidFill>
                  <a:srgbClr val="2B2B2B"/>
                </a:solidFill>
                <a:latin typeface="Calibri" pitchFamily="34" charset="0"/>
                <a:ea typeface="Calibri" pitchFamily="34" charset="-122"/>
                <a:cs typeface="Calibri" pitchFamily="34" charset="-120"/>
              </a:rPr>
              <a:t>Each stage is built as an independent, replaceable component. Kafka insulates the pipeline from slow or unavailable consumers, and Spark's checkpointing lets processing resume from where it left off rather than reprocessing the full stream after a restart.</a:t>
            </a:r>
            <a:endParaRPr lang="en-US" sz="1300" dirty="0"/>
          </a:p>
        </p:txBody>
      </p:sp>
      <p:sp>
        <p:nvSpPr>
          <p:cNvPr id="22" name="Text 20"/>
          <p:cNvSpPr txBox="1"/>
          <p:nvPr/>
        </p:nvSpPr>
        <p:spPr>
          <a:xfrm>
            <a:off x="11551615" y="6446520"/>
            <a:ext cx="365760" cy="274320"/>
          </a:xfrm>
          <a:prstGeom prst="rect">
            <a:avLst/>
          </a:prstGeom>
          <a:noFill/>
          <a:ln/>
        </p:spPr>
        <p:txBody>
          <a:bodyPr wrap="square" lIns="0" tIns="0" rIns="0" bIns="0" rtlCol="0" anchor="ctr"/>
          <a:lstStyle/>
          <a:p>
            <a:pPr algn="r" indent="0" marL="0">
              <a:buNone/>
            </a:pPr>
            <a:r>
              <a:rPr lang="en-US" sz="1100" dirty="0">
                <a:solidFill>
                  <a:srgbClr val="6E6E6E"/>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spc="100" kern="0" dirty="0">
                <a:solidFill>
                  <a:srgbClr val="6E6E6E"/>
                </a:solidFill>
                <a:latin typeface="Calibri" pitchFamily="34" charset="0"/>
                <a:ea typeface="Calibri" pitchFamily="34" charset="-122"/>
                <a:cs typeface="Calibri" pitchFamily="34" charset="-120"/>
              </a:rPr>
              <a:t>USE OF MODERN TOOLS AND TECHNOLOGIES</a:t>
            </a:r>
            <a:endParaRPr lang="en-US" sz="1300" dirty="0"/>
          </a:p>
        </p:txBody>
      </p:sp>
      <p:sp>
        <p:nvSpPr>
          <p:cNvPr id="3" name="Text 1"/>
          <p:cNvSpPr txBox="1"/>
          <p:nvPr/>
        </p:nvSpPr>
        <p:spPr>
          <a:xfrm>
            <a:off x="548640" y="685800"/>
            <a:ext cx="11094415" cy="548640"/>
          </a:xfrm>
          <a:prstGeom prst="rect">
            <a:avLst/>
          </a:prstGeom>
          <a:noFill/>
          <a:ln/>
        </p:spPr>
        <p:txBody>
          <a:bodyPr wrap="square" lIns="0" tIns="0" rIns="0" bIns="0" rtlCol="0" anchor="ctr"/>
          <a:lstStyle/>
          <a:p>
            <a:pPr indent="0" marL="0">
              <a:buNone/>
            </a:pPr>
            <a:r>
              <a:rPr lang="en-US" sz="2600" b="1" dirty="0">
                <a:solidFill>
                  <a:srgbClr val="1F3B4D"/>
                </a:solidFill>
                <a:latin typeface="Calibri" pitchFamily="34" charset="0"/>
                <a:ea typeface="Calibri" pitchFamily="34" charset="-122"/>
                <a:cs typeface="Calibri" pitchFamily="34" charset="-120"/>
              </a:rPr>
              <a:t>Tools &amp; Technology Stack</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4206240"/>
        </p:xfrm>
        <a:graphic>
          <a:graphicData uri="http://schemas.openxmlformats.org/drawingml/2006/table">
            <a:tbl>
              <a:tblPr/>
              <a:tblGrid>
                <a:gridCol w="2377440"/>
                <a:gridCol w="2377440"/>
                <a:gridCol w="6339535"/>
              </a:tblGrid>
              <a:tr h="4572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Tool</a:t>
                      </a:r>
                      <a:endParaRPr lang="en-US" sz="13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1F3B4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Role</a:t>
                      </a:r>
                      <a:endParaRPr lang="en-US" sz="13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1F3B4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Why it was chosen</a:t>
                      </a:r>
                      <a:endParaRPr lang="en-US" sz="13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1F3B4D"/>
                    </a:solidFill>
                  </a:tcPr>
                </a:tc>
              </a:tr>
              <a:tr h="914400">
                <a:tc>
                  <a:txBody>
                    <a:bodyPr/>
                    <a:lstStyle/>
                    <a:p>
                      <a:pPr algn="l" indent="0" marL="0">
                        <a:buNone/>
                      </a:pPr>
                      <a:r>
                        <a:rPr lang="en-US" sz="1200" b="1" dirty="0">
                          <a:solidFill>
                            <a:srgbClr val="1F3B4D"/>
                          </a:solidFill>
                          <a:latin typeface="Calibri" pitchFamily="34" charset="0"/>
                          <a:ea typeface="Calibri" pitchFamily="34" charset="-122"/>
                          <a:cs typeface="Calibri" pitchFamily="34" charset="-120"/>
                        </a:rPr>
                        <a:t>Apache Kafka</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B2B2B"/>
                          </a:solidFill>
                          <a:latin typeface="Calibri" pitchFamily="34" charset="0"/>
                          <a:ea typeface="Calibri" pitchFamily="34" charset="-122"/>
                          <a:cs typeface="Calibri" pitchFamily="34" charset="-120"/>
                        </a:rPr>
                        <a:t>Real-time message queue</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B2B2B"/>
                          </a:solidFill>
                          <a:latin typeface="Calibri" pitchFamily="34" charset="0"/>
                          <a:ea typeface="Calibri" pitchFamily="34" charset="-122"/>
                          <a:cs typeface="Calibri" pitchFamily="34" charset="-120"/>
                        </a:rPr>
                        <a:t>Durable, high-throughput event log that decouples producers from consumers and survives downstream slowdowns</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r>
              <a:tr h="914400">
                <a:tc>
                  <a:txBody>
                    <a:bodyPr/>
                    <a:lstStyle/>
                    <a:p>
                      <a:pPr algn="l" indent="0" marL="0">
                        <a:buNone/>
                      </a:pPr>
                      <a:r>
                        <a:rPr lang="en-US" sz="1200" b="1" dirty="0">
                          <a:solidFill>
                            <a:srgbClr val="1F3B4D"/>
                          </a:solidFill>
                          <a:latin typeface="Calibri" pitchFamily="34" charset="0"/>
                          <a:ea typeface="Calibri" pitchFamily="34" charset="-122"/>
                          <a:cs typeface="Calibri" pitchFamily="34" charset="-120"/>
                        </a:rPr>
                        <a:t>Apache Spark</a:t>
                      </a:r>
                      <a:endParaRPr lang="en-US" sz="1200" dirty="0">
                        <a:latin typeface="Calibri" charset="0"/>
                        <a:ea typeface="Calibri" charset="0"/>
                        <a:cs typeface="Calibri" charset="0"/>
                      </a:endParaRPr>
                    </a:p>
                    <a:p>
                      <a:pPr algn="l" indent="0" marL="0">
                        <a:buNone/>
                      </a:pPr>
                      <a:r>
                        <a:rPr lang="en-US" sz="1200" b="1" dirty="0">
                          <a:solidFill>
                            <a:srgbClr val="1F3B4D"/>
                          </a:solidFill>
                          <a:latin typeface="Calibri" pitchFamily="34" charset="0"/>
                          <a:ea typeface="Calibri" pitchFamily="34" charset="-122"/>
                          <a:cs typeface="Calibri" pitchFamily="34" charset="-120"/>
                        </a:rPr>
                        <a:t>(Structured Streaming)</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B2B2B"/>
                          </a:solidFill>
                          <a:latin typeface="Calibri" pitchFamily="34" charset="0"/>
                          <a:ea typeface="Calibri" pitchFamily="34" charset="-122"/>
                          <a:cs typeface="Calibri" pitchFamily="34" charset="-120"/>
                        </a:rPr>
                        <a:t>Stream processing engine</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B2B2B"/>
                          </a:solidFill>
                          <a:latin typeface="Calibri" pitchFamily="34" charset="0"/>
                          <a:ea typeface="Calibri" pitchFamily="34" charset="-122"/>
                          <a:cs typeface="Calibri" pitchFamily="34" charset="-120"/>
                        </a:rPr>
                        <a:t>Native micro-batch model for continuous, windowed aggregation with built-in checkpointing</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r>
              <a:tr h="822960">
                <a:tc>
                  <a:txBody>
                    <a:bodyPr/>
                    <a:lstStyle/>
                    <a:p>
                      <a:pPr algn="l" indent="0" marL="0">
                        <a:buNone/>
                      </a:pPr>
                      <a:r>
                        <a:rPr lang="en-US" sz="1200" b="1" dirty="0">
                          <a:solidFill>
                            <a:srgbClr val="1F3B4D"/>
                          </a:solidFill>
                          <a:latin typeface="Calibri" pitchFamily="34" charset="0"/>
                          <a:ea typeface="Calibri" pitchFamily="34" charset="-122"/>
                          <a:cs typeface="Calibri" pitchFamily="34" charset="-120"/>
                        </a:rPr>
                        <a:t>Python</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B2B2B"/>
                          </a:solidFill>
                          <a:latin typeface="Calibri" pitchFamily="34" charset="0"/>
                          <a:ea typeface="Calibri" pitchFamily="34" charset="-122"/>
                          <a:cs typeface="Calibri" pitchFamily="34" charset="-120"/>
                        </a:rPr>
                        <a:t>Data producer</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B2B2B"/>
                          </a:solidFill>
                          <a:latin typeface="Calibri" pitchFamily="34" charset="0"/>
                          <a:ea typeface="Calibri" pitchFamily="34" charset="-122"/>
                          <a:cs typeface="Calibri" pitchFamily="34" charset="-120"/>
                        </a:rPr>
                        <a:t>Simple, well-supported Kafka client libraries for reading the CSV and emitting one event per record</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r>
              <a:tr h="914400">
                <a:tc>
                  <a:txBody>
                    <a:bodyPr/>
                    <a:lstStyle/>
                    <a:p>
                      <a:pPr algn="l" indent="0" marL="0">
                        <a:buNone/>
                      </a:pPr>
                      <a:r>
                        <a:rPr lang="en-US" sz="1200" b="1" dirty="0">
                          <a:solidFill>
                            <a:srgbClr val="1F3B4D"/>
                          </a:solidFill>
                          <a:latin typeface="Calibri" pitchFamily="34" charset="0"/>
                          <a:ea typeface="Calibri" pitchFamily="34" charset="-122"/>
                          <a:cs typeface="Calibri" pitchFamily="34" charset="-120"/>
                        </a:rPr>
                        <a:t>Docker / Docker Compose</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B2B2B"/>
                          </a:solidFill>
                          <a:latin typeface="Calibri" pitchFamily="34" charset="0"/>
                          <a:ea typeface="Calibri" pitchFamily="34" charset="-122"/>
                          <a:cs typeface="Calibri" pitchFamily="34" charset="-120"/>
                        </a:rPr>
                        <a:t>Environment orchestration</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B2B2B"/>
                          </a:solidFill>
                          <a:latin typeface="Calibri" pitchFamily="34" charset="0"/>
                          <a:ea typeface="Calibri" pitchFamily="34" charset="-122"/>
                          <a:cs typeface="Calibri" pitchFamily="34" charset="-120"/>
                        </a:rPr>
                        <a:t>Reproducible, one-command setup for Kafka, Zookeeper, and Spark across any machine</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11551615" y="6446520"/>
            <a:ext cx="365760" cy="274320"/>
          </a:xfrm>
          <a:prstGeom prst="rect">
            <a:avLst/>
          </a:prstGeom>
          <a:noFill/>
          <a:ln/>
        </p:spPr>
        <p:txBody>
          <a:bodyPr wrap="square" lIns="0" tIns="0" rIns="0" bIns="0" rtlCol="0" anchor="ctr"/>
          <a:lstStyle/>
          <a:p>
            <a:pPr algn="r" indent="0" marL="0">
              <a:buNone/>
            </a:pPr>
            <a:r>
              <a:rPr lang="en-US" sz="1100" dirty="0">
                <a:solidFill>
                  <a:srgbClr val="6E6E6E"/>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spc="100" kern="0" dirty="0">
                <a:solidFill>
                  <a:srgbClr val="6E6E6E"/>
                </a:solidFill>
                <a:latin typeface="Calibri" pitchFamily="34" charset="0"/>
                <a:ea typeface="Calibri" pitchFamily="34" charset="-122"/>
                <a:cs typeface="Calibri" pitchFamily="34" charset="-120"/>
              </a:rPr>
              <a:t>IMPLEMENTATION, CODING QUALITY &amp; FUNCTIONALITY</a:t>
            </a:r>
            <a:endParaRPr lang="en-US" sz="1300" dirty="0"/>
          </a:p>
        </p:txBody>
      </p:sp>
      <p:sp>
        <p:nvSpPr>
          <p:cNvPr id="3" name="Text 1"/>
          <p:cNvSpPr txBox="1"/>
          <p:nvPr/>
        </p:nvSpPr>
        <p:spPr>
          <a:xfrm>
            <a:off x="548640" y="685800"/>
            <a:ext cx="11094415" cy="548640"/>
          </a:xfrm>
          <a:prstGeom prst="rect">
            <a:avLst/>
          </a:prstGeom>
          <a:noFill/>
          <a:ln/>
        </p:spPr>
        <p:txBody>
          <a:bodyPr wrap="square" lIns="0" tIns="0" rIns="0" bIns="0" rtlCol="0" anchor="ctr"/>
          <a:lstStyle/>
          <a:p>
            <a:pPr indent="0" marL="0">
              <a:buNone/>
            </a:pPr>
            <a:r>
              <a:rPr lang="en-US" sz="2600" b="1" dirty="0">
                <a:solidFill>
                  <a:srgbClr val="1F3B4D"/>
                </a:solidFill>
                <a:latin typeface="Calibri" pitchFamily="34" charset="0"/>
                <a:ea typeface="Calibri" pitchFamily="34" charset="-122"/>
                <a:cs typeface="Calibri" pitchFamily="34" charset="-120"/>
              </a:rPr>
              <a:t>Implementation Overview</a:t>
            </a:r>
            <a:endParaRPr lang="en-US" sz="2600" dirty="0"/>
          </a:p>
        </p:txBody>
      </p:sp>
      <p:sp>
        <p:nvSpPr>
          <p:cNvPr id="4" name="Shape 2"/>
          <p:cNvSpPr/>
          <p:nvPr/>
        </p:nvSpPr>
        <p:spPr>
          <a:xfrm>
            <a:off x="548640" y="1600200"/>
            <a:ext cx="5364328" cy="1965960"/>
          </a:xfrm>
          <a:prstGeom prst="roundRect">
            <a:avLst>
              <a:gd name="adj" fmla="val 2791"/>
            </a:avLst>
          </a:prstGeom>
          <a:solidFill>
            <a:srgbClr val="F4F6F7"/>
          </a:solidFill>
          <a:ln/>
        </p:spPr>
      </p:sp>
      <p:sp>
        <p:nvSpPr>
          <p:cNvPr id="5" name="Text 3"/>
          <p:cNvSpPr txBox="1"/>
          <p:nvPr/>
        </p:nvSpPr>
        <p:spPr>
          <a:xfrm>
            <a:off x="822960" y="1783080"/>
            <a:ext cx="4815688" cy="365760"/>
          </a:xfrm>
          <a:prstGeom prst="rect">
            <a:avLst/>
          </a:prstGeom>
          <a:noFill/>
          <a:ln/>
        </p:spPr>
        <p:txBody>
          <a:bodyPr wrap="square" lIns="0" tIns="0" rIns="0" bIns="0" rtlCol="0" anchor="ctr"/>
          <a:lstStyle/>
          <a:p>
            <a:pPr indent="0" marL="0">
              <a:buNone/>
            </a:pPr>
            <a:r>
              <a:rPr lang="en-US" sz="1400" b="1" dirty="0">
                <a:solidFill>
                  <a:srgbClr val="1F3B4D"/>
                </a:solidFill>
                <a:latin typeface="Consolas" pitchFamily="34" charset="0"/>
                <a:ea typeface="Consolas" pitchFamily="34" charset="-122"/>
                <a:cs typeface="Consolas" pitchFamily="34" charset="-120"/>
              </a:rPr>
              <a:t>producer.py</a:t>
            </a:r>
            <a:endParaRPr lang="en-US" sz="1400" dirty="0"/>
          </a:p>
        </p:txBody>
      </p:sp>
      <p:sp>
        <p:nvSpPr>
          <p:cNvPr id="6" name="Text 4"/>
          <p:cNvSpPr txBox="1"/>
          <p:nvPr/>
        </p:nvSpPr>
        <p:spPr>
          <a:xfrm>
            <a:off x="822960" y="2194560"/>
            <a:ext cx="4815688" cy="1188720"/>
          </a:xfrm>
          <a:prstGeom prst="rect">
            <a:avLst/>
          </a:prstGeom>
          <a:noFill/>
          <a:ln/>
        </p:spPr>
        <p:txBody>
          <a:bodyPr wrap="square" lIns="0" tIns="0" rIns="0" bIns="0" rtlCol="0" anchor="t"/>
          <a:lstStyle/>
          <a:p>
            <a:pPr indent="0" marL="0">
              <a:lnSpc>
                <a:spcPct val="115000"/>
              </a:lnSpc>
              <a:buNone/>
            </a:pPr>
            <a:r>
              <a:rPr lang="en-US" sz="1200" dirty="0">
                <a:solidFill>
                  <a:srgbClr val="2B2B2B"/>
                </a:solidFill>
                <a:latin typeface="Calibri" pitchFamily="34" charset="0"/>
                <a:ea typeface="Calibri" pitchFamily="34" charset="-122"/>
                <a:cs typeface="Calibri" pitchFamily="34" charset="-120"/>
              </a:rPr>
              <a:t>Reads the CSV dataset row by row, builds a JSON event (region, date, cases, deaths), and publishes it to the Kafka topic keyed by region so records for the same region stay ordered.</a:t>
            </a:r>
            <a:endParaRPr lang="en-US" sz="1200" dirty="0"/>
          </a:p>
        </p:txBody>
      </p:sp>
      <p:sp>
        <p:nvSpPr>
          <p:cNvPr id="7" name="Shape 5"/>
          <p:cNvSpPr/>
          <p:nvPr/>
        </p:nvSpPr>
        <p:spPr>
          <a:xfrm>
            <a:off x="6278728" y="1600200"/>
            <a:ext cx="5364328" cy="1965960"/>
          </a:xfrm>
          <a:prstGeom prst="roundRect">
            <a:avLst>
              <a:gd name="adj" fmla="val 2791"/>
            </a:avLst>
          </a:prstGeom>
          <a:solidFill>
            <a:srgbClr val="F4F6F7"/>
          </a:solidFill>
          <a:ln/>
        </p:spPr>
      </p:sp>
      <p:sp>
        <p:nvSpPr>
          <p:cNvPr id="8" name="Text 6"/>
          <p:cNvSpPr txBox="1"/>
          <p:nvPr/>
        </p:nvSpPr>
        <p:spPr>
          <a:xfrm>
            <a:off x="6553048" y="1783080"/>
            <a:ext cx="4815688" cy="365760"/>
          </a:xfrm>
          <a:prstGeom prst="rect">
            <a:avLst/>
          </a:prstGeom>
          <a:noFill/>
          <a:ln/>
        </p:spPr>
        <p:txBody>
          <a:bodyPr wrap="square" lIns="0" tIns="0" rIns="0" bIns="0" rtlCol="0" anchor="ctr"/>
          <a:lstStyle/>
          <a:p>
            <a:pPr indent="0" marL="0">
              <a:buNone/>
            </a:pPr>
            <a:r>
              <a:rPr lang="en-US" sz="1400" b="1" dirty="0">
                <a:solidFill>
                  <a:srgbClr val="1F3B4D"/>
                </a:solidFill>
                <a:latin typeface="Consolas" pitchFamily="34" charset="0"/>
                <a:ea typeface="Consolas" pitchFamily="34" charset="-122"/>
                <a:cs typeface="Consolas" pitchFamily="34" charset="-120"/>
              </a:rPr>
              <a:t>health-events (Kafka topic)</a:t>
            </a:r>
            <a:endParaRPr lang="en-US" sz="1400" dirty="0"/>
          </a:p>
        </p:txBody>
      </p:sp>
      <p:sp>
        <p:nvSpPr>
          <p:cNvPr id="9" name="Text 7"/>
          <p:cNvSpPr txBox="1"/>
          <p:nvPr/>
        </p:nvSpPr>
        <p:spPr>
          <a:xfrm>
            <a:off x="6553048" y="2194560"/>
            <a:ext cx="4815688" cy="1188720"/>
          </a:xfrm>
          <a:prstGeom prst="rect">
            <a:avLst/>
          </a:prstGeom>
          <a:noFill/>
          <a:ln/>
        </p:spPr>
        <p:txBody>
          <a:bodyPr wrap="square" lIns="0" tIns="0" rIns="0" bIns="0" rtlCol="0" anchor="t"/>
          <a:lstStyle/>
          <a:p>
            <a:pPr indent="0" marL="0">
              <a:lnSpc>
                <a:spcPct val="115000"/>
              </a:lnSpc>
              <a:buNone/>
            </a:pPr>
            <a:r>
              <a:rPr lang="en-US" sz="1200" dirty="0">
                <a:solidFill>
                  <a:srgbClr val="2B2B2B"/>
                </a:solidFill>
                <a:latin typeface="Calibri" pitchFamily="34" charset="0"/>
                <a:ea typeface="Calibri" pitchFamily="34" charset="-122"/>
                <a:cs typeface="Calibri" pitchFamily="34" charset="-120"/>
              </a:rPr>
              <a:t>Single topic, partitioned by region, retains events durably so the Spark job can be restarted without losing or duplicating data.</a:t>
            </a:r>
            <a:endParaRPr lang="en-US" sz="1200" dirty="0"/>
          </a:p>
        </p:txBody>
      </p:sp>
      <p:sp>
        <p:nvSpPr>
          <p:cNvPr id="10" name="Shape 8"/>
          <p:cNvSpPr/>
          <p:nvPr/>
        </p:nvSpPr>
        <p:spPr>
          <a:xfrm>
            <a:off x="548640" y="3840480"/>
            <a:ext cx="5364328" cy="1965960"/>
          </a:xfrm>
          <a:prstGeom prst="roundRect">
            <a:avLst>
              <a:gd name="adj" fmla="val 2791"/>
            </a:avLst>
          </a:prstGeom>
          <a:solidFill>
            <a:srgbClr val="F4F6F7"/>
          </a:solidFill>
          <a:ln/>
        </p:spPr>
      </p:sp>
      <p:sp>
        <p:nvSpPr>
          <p:cNvPr id="11" name="Text 9"/>
          <p:cNvSpPr txBox="1"/>
          <p:nvPr/>
        </p:nvSpPr>
        <p:spPr>
          <a:xfrm>
            <a:off x="822960" y="4023360"/>
            <a:ext cx="4815688" cy="365760"/>
          </a:xfrm>
          <a:prstGeom prst="rect">
            <a:avLst/>
          </a:prstGeom>
          <a:noFill/>
          <a:ln/>
        </p:spPr>
        <p:txBody>
          <a:bodyPr wrap="square" lIns="0" tIns="0" rIns="0" bIns="0" rtlCol="0" anchor="ctr"/>
          <a:lstStyle/>
          <a:p>
            <a:pPr indent="0" marL="0">
              <a:buNone/>
            </a:pPr>
            <a:r>
              <a:rPr lang="en-US" sz="1400" b="1" dirty="0">
                <a:solidFill>
                  <a:srgbClr val="1F3B4D"/>
                </a:solidFill>
                <a:latin typeface="Consolas" pitchFamily="34" charset="0"/>
                <a:ea typeface="Consolas" pitchFamily="34" charset="-122"/>
                <a:cs typeface="Consolas" pitchFamily="34" charset="-120"/>
              </a:rPr>
              <a:t>spark_job.py</a:t>
            </a:r>
            <a:endParaRPr lang="en-US" sz="1400" dirty="0"/>
          </a:p>
        </p:txBody>
      </p:sp>
      <p:sp>
        <p:nvSpPr>
          <p:cNvPr id="12" name="Text 10"/>
          <p:cNvSpPr txBox="1"/>
          <p:nvPr/>
        </p:nvSpPr>
        <p:spPr>
          <a:xfrm>
            <a:off x="822960" y="4434840"/>
            <a:ext cx="4815688" cy="1188720"/>
          </a:xfrm>
          <a:prstGeom prst="rect">
            <a:avLst/>
          </a:prstGeom>
          <a:noFill/>
          <a:ln/>
        </p:spPr>
        <p:txBody>
          <a:bodyPr wrap="square" lIns="0" tIns="0" rIns="0" bIns="0" rtlCol="0" anchor="t"/>
          <a:lstStyle/>
          <a:p>
            <a:pPr indent="0" marL="0">
              <a:lnSpc>
                <a:spcPct val="115000"/>
              </a:lnSpc>
              <a:buNone/>
            </a:pPr>
            <a:r>
              <a:rPr lang="en-US" sz="1200" dirty="0">
                <a:solidFill>
                  <a:srgbClr val="2B2B2B"/>
                </a:solidFill>
                <a:latin typeface="Calibri" pitchFamily="34" charset="0"/>
                <a:ea typeface="Calibri" pitchFamily="34" charset="-122"/>
                <a:cs typeface="Calibri" pitchFamily="34" charset="-120"/>
              </a:rPr>
              <a:t>Reads the Kafka topic as a stream, parses the JSON schema, applies a group-by-region aggregation with checkpointing, and writes rolling totals to the output sink.</a:t>
            </a:r>
            <a:endParaRPr lang="en-US" sz="1200" dirty="0"/>
          </a:p>
        </p:txBody>
      </p:sp>
      <p:sp>
        <p:nvSpPr>
          <p:cNvPr id="13" name="Shape 11"/>
          <p:cNvSpPr/>
          <p:nvPr/>
        </p:nvSpPr>
        <p:spPr>
          <a:xfrm>
            <a:off x="6278728" y="3840480"/>
            <a:ext cx="5364328" cy="1965960"/>
          </a:xfrm>
          <a:prstGeom prst="roundRect">
            <a:avLst>
              <a:gd name="adj" fmla="val 2791"/>
            </a:avLst>
          </a:prstGeom>
          <a:solidFill>
            <a:srgbClr val="F4F6F7"/>
          </a:solidFill>
          <a:ln/>
        </p:spPr>
      </p:sp>
      <p:sp>
        <p:nvSpPr>
          <p:cNvPr id="14" name="Text 12"/>
          <p:cNvSpPr txBox="1"/>
          <p:nvPr/>
        </p:nvSpPr>
        <p:spPr>
          <a:xfrm>
            <a:off x="6553048" y="4023360"/>
            <a:ext cx="4815688" cy="365760"/>
          </a:xfrm>
          <a:prstGeom prst="rect">
            <a:avLst/>
          </a:prstGeom>
          <a:noFill/>
          <a:ln/>
        </p:spPr>
        <p:txBody>
          <a:bodyPr wrap="square" lIns="0" tIns="0" rIns="0" bIns="0" rtlCol="0" anchor="ctr"/>
          <a:lstStyle/>
          <a:p>
            <a:pPr indent="0" marL="0">
              <a:buNone/>
            </a:pPr>
            <a:r>
              <a:rPr lang="en-US" sz="1400" b="1" dirty="0">
                <a:solidFill>
                  <a:srgbClr val="1F3B4D"/>
                </a:solidFill>
                <a:latin typeface="Consolas" pitchFamily="34" charset="0"/>
                <a:ea typeface="Consolas" pitchFamily="34" charset="-122"/>
                <a:cs typeface="Consolas" pitchFamily="34" charset="-120"/>
              </a:rPr>
              <a:t>docker-compose.yml</a:t>
            </a:r>
            <a:endParaRPr lang="en-US" sz="1400" dirty="0"/>
          </a:p>
        </p:txBody>
      </p:sp>
      <p:sp>
        <p:nvSpPr>
          <p:cNvPr id="15" name="Text 13"/>
          <p:cNvSpPr txBox="1"/>
          <p:nvPr/>
        </p:nvSpPr>
        <p:spPr>
          <a:xfrm>
            <a:off x="6553048" y="4434840"/>
            <a:ext cx="4815688" cy="1188720"/>
          </a:xfrm>
          <a:prstGeom prst="rect">
            <a:avLst/>
          </a:prstGeom>
          <a:noFill/>
          <a:ln/>
        </p:spPr>
        <p:txBody>
          <a:bodyPr wrap="square" lIns="0" tIns="0" rIns="0" bIns="0" rtlCol="0" anchor="t"/>
          <a:lstStyle/>
          <a:p>
            <a:pPr indent="0" marL="0">
              <a:lnSpc>
                <a:spcPct val="115000"/>
              </a:lnSpc>
              <a:buNone/>
            </a:pPr>
            <a:r>
              <a:rPr lang="en-US" sz="1200" dirty="0">
                <a:solidFill>
                  <a:srgbClr val="2B2B2B"/>
                </a:solidFill>
                <a:latin typeface="Calibri" pitchFamily="34" charset="0"/>
                <a:ea typeface="Calibri" pitchFamily="34" charset="-122"/>
                <a:cs typeface="Calibri" pitchFamily="34" charset="-120"/>
              </a:rPr>
              <a:t>Defines Zookeeper, Kafka broker, and Spark services with mounted volumes for the code and dataset, so the entire pipeline comes up with one command.</a:t>
            </a:r>
            <a:endParaRPr lang="en-US" sz="1200" dirty="0"/>
          </a:p>
        </p:txBody>
      </p:sp>
      <p:sp>
        <p:nvSpPr>
          <p:cNvPr id="16" name="Text 14"/>
          <p:cNvSpPr txBox="1"/>
          <p:nvPr/>
        </p:nvSpPr>
        <p:spPr>
          <a:xfrm>
            <a:off x="11551615" y="6446520"/>
            <a:ext cx="365760" cy="274320"/>
          </a:xfrm>
          <a:prstGeom prst="rect">
            <a:avLst/>
          </a:prstGeom>
          <a:noFill/>
          <a:ln/>
        </p:spPr>
        <p:txBody>
          <a:bodyPr wrap="square" lIns="0" tIns="0" rIns="0" bIns="0" rtlCol="0" anchor="ctr"/>
          <a:lstStyle/>
          <a:p>
            <a:pPr algn="r" indent="0" marL="0">
              <a:buNone/>
            </a:pPr>
            <a:r>
              <a:rPr lang="en-US" sz="1100" dirty="0">
                <a:solidFill>
                  <a:srgbClr val="6E6E6E"/>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spc="100" kern="0" dirty="0">
                <a:solidFill>
                  <a:srgbClr val="6E6E6E"/>
                </a:solidFill>
                <a:latin typeface="Calibri" pitchFamily="34" charset="0"/>
                <a:ea typeface="Calibri" pitchFamily="34" charset="-122"/>
                <a:cs typeface="Calibri" pitchFamily="34" charset="-120"/>
              </a:rPr>
              <a:t>IMPLEMENTATION, CODING QUALITY &amp; FUNCTIONALITY</a:t>
            </a:r>
            <a:endParaRPr lang="en-US" sz="1300" dirty="0"/>
          </a:p>
        </p:txBody>
      </p:sp>
      <p:sp>
        <p:nvSpPr>
          <p:cNvPr id="3" name="Text 1"/>
          <p:cNvSpPr txBox="1"/>
          <p:nvPr/>
        </p:nvSpPr>
        <p:spPr>
          <a:xfrm>
            <a:off x="548640" y="685800"/>
            <a:ext cx="11094415" cy="548640"/>
          </a:xfrm>
          <a:prstGeom prst="rect">
            <a:avLst/>
          </a:prstGeom>
          <a:noFill/>
          <a:ln/>
        </p:spPr>
        <p:txBody>
          <a:bodyPr wrap="square" lIns="0" tIns="0" rIns="0" bIns="0" rtlCol="0" anchor="ctr"/>
          <a:lstStyle/>
          <a:p>
            <a:pPr indent="0" marL="0">
              <a:buNone/>
            </a:pPr>
            <a:r>
              <a:rPr lang="en-US" sz="2600" b="1" dirty="0">
                <a:solidFill>
                  <a:srgbClr val="1F3B4D"/>
                </a:solidFill>
                <a:latin typeface="Calibri" pitchFamily="34" charset="0"/>
                <a:ea typeface="Calibri" pitchFamily="34" charset="-122"/>
                <a:cs typeface="Calibri" pitchFamily="34" charset="-120"/>
              </a:rPr>
              <a:t>Coding Quality &amp; Engineering Practices</a:t>
            </a:r>
            <a:endParaRPr lang="en-US" sz="2600" dirty="0"/>
          </a:p>
        </p:txBody>
      </p:sp>
      <p:sp>
        <p:nvSpPr>
          <p:cNvPr id="4" name="Text 2"/>
          <p:cNvSpPr txBox="1"/>
          <p:nvPr/>
        </p:nvSpPr>
        <p:spPr>
          <a:xfrm>
            <a:off x="548640" y="1554480"/>
            <a:ext cx="320040" cy="320040"/>
          </a:xfrm>
          <a:prstGeom prst="rect">
            <a:avLst/>
          </a:prstGeom>
          <a:noFill/>
          <a:ln/>
        </p:spPr>
        <p:txBody>
          <a:bodyPr wrap="square" lIns="0" tIns="0" rIns="0" bIns="0" rtlCol="0" anchor="ctr"/>
          <a:lstStyle/>
          <a:p>
            <a:pPr indent="0" marL="0">
              <a:buNone/>
            </a:pPr>
            <a:r>
              <a:rPr lang="en-US" sz="1600" b="1" dirty="0">
                <a:solidFill>
                  <a:srgbClr val="1F3B4D"/>
                </a:solidFill>
                <a:latin typeface="Calibri" pitchFamily="34" charset="0"/>
                <a:ea typeface="Calibri" pitchFamily="34" charset="-122"/>
                <a:cs typeface="Calibri" pitchFamily="34" charset="-120"/>
              </a:rPr>
              <a:t>✓</a:t>
            </a:r>
            <a:endParaRPr lang="en-US" sz="1600" dirty="0"/>
          </a:p>
        </p:txBody>
      </p:sp>
      <p:sp>
        <p:nvSpPr>
          <p:cNvPr id="5" name="Text 3"/>
          <p:cNvSpPr txBox="1"/>
          <p:nvPr/>
        </p:nvSpPr>
        <p:spPr>
          <a:xfrm>
            <a:off x="868680" y="1554480"/>
            <a:ext cx="5044288" cy="320040"/>
          </a:xfrm>
          <a:prstGeom prst="rect">
            <a:avLst/>
          </a:prstGeom>
          <a:noFill/>
          <a:ln/>
        </p:spPr>
        <p:txBody>
          <a:bodyPr wrap="square" lIns="0" tIns="0" rIns="0" bIns="0" rtlCol="0" anchor="ctr"/>
          <a:lstStyle/>
          <a:p>
            <a:pPr indent="0" marL="0">
              <a:buNone/>
            </a:pPr>
            <a:r>
              <a:rPr lang="en-US" sz="1400" b="1" dirty="0">
                <a:solidFill>
                  <a:srgbClr val="1F3B4D"/>
                </a:solidFill>
                <a:latin typeface="Calibri" pitchFamily="34" charset="0"/>
                <a:ea typeface="Calibri" pitchFamily="34" charset="-122"/>
                <a:cs typeface="Calibri" pitchFamily="34" charset="-120"/>
              </a:rPr>
              <a:t>Modular structure</a:t>
            </a:r>
            <a:endParaRPr lang="en-US" sz="1400" dirty="0"/>
          </a:p>
        </p:txBody>
      </p:sp>
      <p:sp>
        <p:nvSpPr>
          <p:cNvPr id="6" name="Text 4"/>
          <p:cNvSpPr txBox="1"/>
          <p:nvPr/>
        </p:nvSpPr>
        <p:spPr>
          <a:xfrm>
            <a:off x="868680" y="1901952"/>
            <a:ext cx="5044288" cy="932688"/>
          </a:xfrm>
          <a:prstGeom prst="rect">
            <a:avLst/>
          </a:prstGeom>
          <a:noFill/>
          <a:ln/>
        </p:spPr>
        <p:txBody>
          <a:bodyPr wrap="square" lIns="0" tIns="0" rIns="0" bIns="0" rtlCol="0" anchor="t"/>
          <a:lstStyle/>
          <a:p>
            <a:pPr indent="0" marL="0">
              <a:lnSpc>
                <a:spcPct val="112000"/>
              </a:lnSpc>
              <a:buNone/>
            </a:pPr>
            <a:r>
              <a:rPr lang="en-US" sz="1150" dirty="0">
                <a:solidFill>
                  <a:srgbClr val="2B2B2B"/>
                </a:solidFill>
                <a:latin typeface="Calibri" pitchFamily="34" charset="0"/>
                <a:ea typeface="Calibri" pitchFamily="34" charset="-122"/>
                <a:cs typeface="Calibri" pitchFamily="34" charset="-120"/>
              </a:rPr>
              <a:t>Producer, streaming job, and configuration are kept in separate files instead of one monolithic script, so each piece can be tested and modified independently.</a:t>
            </a:r>
            <a:endParaRPr lang="en-US" sz="1150" dirty="0"/>
          </a:p>
        </p:txBody>
      </p:sp>
      <p:sp>
        <p:nvSpPr>
          <p:cNvPr id="7" name="Text 5"/>
          <p:cNvSpPr txBox="1"/>
          <p:nvPr/>
        </p:nvSpPr>
        <p:spPr>
          <a:xfrm>
            <a:off x="6278728" y="1554480"/>
            <a:ext cx="320040" cy="320040"/>
          </a:xfrm>
          <a:prstGeom prst="rect">
            <a:avLst/>
          </a:prstGeom>
          <a:noFill/>
          <a:ln/>
        </p:spPr>
        <p:txBody>
          <a:bodyPr wrap="square" lIns="0" tIns="0" rIns="0" bIns="0" rtlCol="0" anchor="ctr"/>
          <a:lstStyle/>
          <a:p>
            <a:pPr indent="0" marL="0">
              <a:buNone/>
            </a:pPr>
            <a:r>
              <a:rPr lang="en-US" sz="1600" b="1" dirty="0">
                <a:solidFill>
                  <a:srgbClr val="1F3B4D"/>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6598768" y="1554480"/>
            <a:ext cx="5044288" cy="320040"/>
          </a:xfrm>
          <a:prstGeom prst="rect">
            <a:avLst/>
          </a:prstGeom>
          <a:noFill/>
          <a:ln/>
        </p:spPr>
        <p:txBody>
          <a:bodyPr wrap="square" lIns="0" tIns="0" rIns="0" bIns="0" rtlCol="0" anchor="ctr"/>
          <a:lstStyle/>
          <a:p>
            <a:pPr indent="0" marL="0">
              <a:buNone/>
            </a:pPr>
            <a:r>
              <a:rPr lang="en-US" sz="1400" b="1" dirty="0">
                <a:solidFill>
                  <a:srgbClr val="1F3B4D"/>
                </a:solidFill>
                <a:latin typeface="Calibri" pitchFamily="34" charset="0"/>
                <a:ea typeface="Calibri" pitchFamily="34" charset="-122"/>
                <a:cs typeface="Calibri" pitchFamily="34" charset="-120"/>
              </a:rPr>
              <a:t>Centralized configuration</a:t>
            </a:r>
            <a:endParaRPr lang="en-US" sz="1400" dirty="0"/>
          </a:p>
        </p:txBody>
      </p:sp>
      <p:sp>
        <p:nvSpPr>
          <p:cNvPr id="9" name="Text 7"/>
          <p:cNvSpPr txBox="1"/>
          <p:nvPr/>
        </p:nvSpPr>
        <p:spPr>
          <a:xfrm>
            <a:off x="6598768" y="1901952"/>
            <a:ext cx="5044288" cy="932688"/>
          </a:xfrm>
          <a:prstGeom prst="rect">
            <a:avLst/>
          </a:prstGeom>
          <a:noFill/>
          <a:ln/>
        </p:spPr>
        <p:txBody>
          <a:bodyPr wrap="square" lIns="0" tIns="0" rIns="0" bIns="0" rtlCol="0" anchor="t"/>
          <a:lstStyle/>
          <a:p>
            <a:pPr indent="0" marL="0">
              <a:lnSpc>
                <a:spcPct val="112000"/>
              </a:lnSpc>
              <a:buNone/>
            </a:pPr>
            <a:r>
              <a:rPr lang="en-US" sz="1150" dirty="0">
                <a:solidFill>
                  <a:srgbClr val="2B2B2B"/>
                </a:solidFill>
                <a:latin typeface="Calibri" pitchFamily="34" charset="0"/>
                <a:ea typeface="Calibri" pitchFamily="34" charset="-122"/>
                <a:cs typeface="Calibri" pitchFamily="34" charset="-120"/>
              </a:rPr>
              <a:t>Broker address, topic name, and batch interval live in one config file / environment variables rather than being hardcoded across scripts.</a:t>
            </a:r>
            <a:endParaRPr lang="en-US" sz="1150" dirty="0"/>
          </a:p>
        </p:txBody>
      </p:sp>
      <p:sp>
        <p:nvSpPr>
          <p:cNvPr id="10" name="Text 8"/>
          <p:cNvSpPr txBox="1"/>
          <p:nvPr/>
        </p:nvSpPr>
        <p:spPr>
          <a:xfrm>
            <a:off x="548640" y="2990088"/>
            <a:ext cx="320040" cy="320040"/>
          </a:xfrm>
          <a:prstGeom prst="rect">
            <a:avLst/>
          </a:prstGeom>
          <a:noFill/>
          <a:ln/>
        </p:spPr>
        <p:txBody>
          <a:bodyPr wrap="square" lIns="0" tIns="0" rIns="0" bIns="0" rtlCol="0" anchor="ctr"/>
          <a:lstStyle/>
          <a:p>
            <a:pPr indent="0" marL="0">
              <a:buNone/>
            </a:pPr>
            <a:r>
              <a:rPr lang="en-US" sz="1600" b="1" dirty="0">
                <a:solidFill>
                  <a:srgbClr val="1F3B4D"/>
                </a:solidFill>
                <a:latin typeface="Calibri" pitchFamily="34" charset="0"/>
                <a:ea typeface="Calibri" pitchFamily="34" charset="-122"/>
                <a:cs typeface="Calibri" pitchFamily="34" charset="-120"/>
              </a:rPr>
              <a:t>✓</a:t>
            </a:r>
            <a:endParaRPr lang="en-US" sz="1600" dirty="0"/>
          </a:p>
        </p:txBody>
      </p:sp>
      <p:sp>
        <p:nvSpPr>
          <p:cNvPr id="11" name="Text 9"/>
          <p:cNvSpPr txBox="1"/>
          <p:nvPr/>
        </p:nvSpPr>
        <p:spPr>
          <a:xfrm>
            <a:off x="868680" y="2990088"/>
            <a:ext cx="5044288" cy="320040"/>
          </a:xfrm>
          <a:prstGeom prst="rect">
            <a:avLst/>
          </a:prstGeom>
          <a:noFill/>
          <a:ln/>
        </p:spPr>
        <p:txBody>
          <a:bodyPr wrap="square" lIns="0" tIns="0" rIns="0" bIns="0" rtlCol="0" anchor="ctr"/>
          <a:lstStyle/>
          <a:p>
            <a:pPr indent="0" marL="0">
              <a:buNone/>
            </a:pPr>
            <a:r>
              <a:rPr lang="en-US" sz="1400" b="1" dirty="0">
                <a:solidFill>
                  <a:srgbClr val="1F3B4D"/>
                </a:solidFill>
                <a:latin typeface="Calibri" pitchFamily="34" charset="0"/>
                <a:ea typeface="Calibri" pitchFamily="34" charset="-122"/>
                <a:cs typeface="Calibri" pitchFamily="34" charset="-120"/>
              </a:rPr>
              <a:t>Structured logging</a:t>
            </a:r>
            <a:endParaRPr lang="en-US" sz="1400" dirty="0"/>
          </a:p>
        </p:txBody>
      </p:sp>
      <p:sp>
        <p:nvSpPr>
          <p:cNvPr id="12" name="Text 10"/>
          <p:cNvSpPr txBox="1"/>
          <p:nvPr/>
        </p:nvSpPr>
        <p:spPr>
          <a:xfrm>
            <a:off x="868680" y="3337560"/>
            <a:ext cx="5044288" cy="932688"/>
          </a:xfrm>
          <a:prstGeom prst="rect">
            <a:avLst/>
          </a:prstGeom>
          <a:noFill/>
          <a:ln/>
        </p:spPr>
        <p:txBody>
          <a:bodyPr wrap="square" lIns="0" tIns="0" rIns="0" bIns="0" rtlCol="0" anchor="t"/>
          <a:lstStyle/>
          <a:p>
            <a:pPr indent="0" marL="0">
              <a:lnSpc>
                <a:spcPct val="112000"/>
              </a:lnSpc>
              <a:buNone/>
            </a:pPr>
            <a:r>
              <a:rPr lang="en-US" sz="1150" dirty="0">
                <a:solidFill>
                  <a:srgbClr val="2B2B2B"/>
                </a:solidFill>
                <a:latin typeface="Calibri" pitchFamily="34" charset="0"/>
                <a:ea typeface="Calibri" pitchFamily="34" charset="-122"/>
                <a:cs typeface="Calibri" pitchFamily="34" charset="-120"/>
              </a:rPr>
              <a:t>The producer logs each send confirmation and the Spark job logs batch progress, so failures can be traced to a specific stage and record.</a:t>
            </a:r>
            <a:endParaRPr lang="en-US" sz="1150" dirty="0"/>
          </a:p>
        </p:txBody>
      </p:sp>
      <p:sp>
        <p:nvSpPr>
          <p:cNvPr id="13" name="Text 11"/>
          <p:cNvSpPr txBox="1"/>
          <p:nvPr/>
        </p:nvSpPr>
        <p:spPr>
          <a:xfrm>
            <a:off x="6278728" y="2990088"/>
            <a:ext cx="320040" cy="320040"/>
          </a:xfrm>
          <a:prstGeom prst="rect">
            <a:avLst/>
          </a:prstGeom>
          <a:noFill/>
          <a:ln/>
        </p:spPr>
        <p:txBody>
          <a:bodyPr wrap="square" lIns="0" tIns="0" rIns="0" bIns="0" rtlCol="0" anchor="ctr"/>
          <a:lstStyle/>
          <a:p>
            <a:pPr indent="0" marL="0">
              <a:buNone/>
            </a:pPr>
            <a:r>
              <a:rPr lang="en-US" sz="1600" b="1" dirty="0">
                <a:solidFill>
                  <a:srgbClr val="1F3B4D"/>
                </a:solidFill>
                <a:latin typeface="Calibri" pitchFamily="34" charset="0"/>
                <a:ea typeface="Calibri" pitchFamily="34" charset="-122"/>
                <a:cs typeface="Calibri" pitchFamily="34" charset="-120"/>
              </a:rPr>
              <a:t>✓</a:t>
            </a:r>
            <a:endParaRPr lang="en-US" sz="1600" dirty="0"/>
          </a:p>
        </p:txBody>
      </p:sp>
      <p:sp>
        <p:nvSpPr>
          <p:cNvPr id="14" name="Text 12"/>
          <p:cNvSpPr txBox="1"/>
          <p:nvPr/>
        </p:nvSpPr>
        <p:spPr>
          <a:xfrm>
            <a:off x="6598768" y="2990088"/>
            <a:ext cx="5044288" cy="320040"/>
          </a:xfrm>
          <a:prstGeom prst="rect">
            <a:avLst/>
          </a:prstGeom>
          <a:noFill/>
          <a:ln/>
        </p:spPr>
        <p:txBody>
          <a:bodyPr wrap="square" lIns="0" tIns="0" rIns="0" bIns="0" rtlCol="0" anchor="ctr"/>
          <a:lstStyle/>
          <a:p>
            <a:pPr indent="0" marL="0">
              <a:buNone/>
            </a:pPr>
            <a:r>
              <a:rPr lang="en-US" sz="1400" b="1" dirty="0">
                <a:solidFill>
                  <a:srgbClr val="1F3B4D"/>
                </a:solidFill>
                <a:latin typeface="Calibri" pitchFamily="34" charset="0"/>
                <a:ea typeface="Calibri" pitchFamily="34" charset="-122"/>
                <a:cs typeface="Calibri" pitchFamily="34" charset="-120"/>
              </a:rPr>
              <a:t>Defensive error handling</a:t>
            </a:r>
            <a:endParaRPr lang="en-US" sz="1400" dirty="0"/>
          </a:p>
        </p:txBody>
      </p:sp>
      <p:sp>
        <p:nvSpPr>
          <p:cNvPr id="15" name="Text 13"/>
          <p:cNvSpPr txBox="1"/>
          <p:nvPr/>
        </p:nvSpPr>
        <p:spPr>
          <a:xfrm>
            <a:off x="6598768" y="3337560"/>
            <a:ext cx="5044288" cy="932688"/>
          </a:xfrm>
          <a:prstGeom prst="rect">
            <a:avLst/>
          </a:prstGeom>
          <a:noFill/>
          <a:ln/>
        </p:spPr>
        <p:txBody>
          <a:bodyPr wrap="square" lIns="0" tIns="0" rIns="0" bIns="0" rtlCol="0" anchor="t"/>
          <a:lstStyle/>
          <a:p>
            <a:pPr indent="0" marL="0">
              <a:lnSpc>
                <a:spcPct val="112000"/>
              </a:lnSpc>
              <a:buNone/>
            </a:pPr>
            <a:r>
              <a:rPr lang="en-US" sz="1150" dirty="0">
                <a:solidFill>
                  <a:srgbClr val="2B2B2B"/>
                </a:solidFill>
                <a:latin typeface="Calibri" pitchFamily="34" charset="0"/>
                <a:ea typeface="Calibri" pitchFamily="34" charset="-122"/>
                <a:cs typeface="Calibri" pitchFamily="34" charset="-120"/>
              </a:rPr>
              <a:t>Try/except blocks around Kafka connections and malformed CSV rows stop a single bad record from crashing the whole pipeline.</a:t>
            </a:r>
            <a:endParaRPr lang="en-US" sz="1150" dirty="0"/>
          </a:p>
        </p:txBody>
      </p:sp>
      <p:sp>
        <p:nvSpPr>
          <p:cNvPr id="16" name="Text 14"/>
          <p:cNvSpPr txBox="1"/>
          <p:nvPr/>
        </p:nvSpPr>
        <p:spPr>
          <a:xfrm>
            <a:off x="548640" y="4425696"/>
            <a:ext cx="320040" cy="320040"/>
          </a:xfrm>
          <a:prstGeom prst="rect">
            <a:avLst/>
          </a:prstGeom>
          <a:noFill/>
          <a:ln/>
        </p:spPr>
        <p:txBody>
          <a:bodyPr wrap="square" lIns="0" tIns="0" rIns="0" bIns="0" rtlCol="0" anchor="ctr"/>
          <a:lstStyle/>
          <a:p>
            <a:pPr indent="0" marL="0">
              <a:buNone/>
            </a:pPr>
            <a:r>
              <a:rPr lang="en-US" sz="1600" b="1" dirty="0">
                <a:solidFill>
                  <a:srgbClr val="1F3B4D"/>
                </a:solidFill>
                <a:latin typeface="Calibri" pitchFamily="34" charset="0"/>
                <a:ea typeface="Calibri" pitchFamily="34" charset="-122"/>
                <a:cs typeface="Calibri" pitchFamily="34" charset="-120"/>
              </a:rPr>
              <a:t>✓</a:t>
            </a:r>
            <a:endParaRPr lang="en-US" sz="1600" dirty="0"/>
          </a:p>
        </p:txBody>
      </p:sp>
      <p:sp>
        <p:nvSpPr>
          <p:cNvPr id="17" name="Text 15"/>
          <p:cNvSpPr txBox="1"/>
          <p:nvPr/>
        </p:nvSpPr>
        <p:spPr>
          <a:xfrm>
            <a:off x="868680" y="4425696"/>
            <a:ext cx="5044288" cy="320040"/>
          </a:xfrm>
          <a:prstGeom prst="rect">
            <a:avLst/>
          </a:prstGeom>
          <a:noFill/>
          <a:ln/>
        </p:spPr>
        <p:txBody>
          <a:bodyPr wrap="square" lIns="0" tIns="0" rIns="0" bIns="0" rtlCol="0" anchor="ctr"/>
          <a:lstStyle/>
          <a:p>
            <a:pPr indent="0" marL="0">
              <a:buNone/>
            </a:pPr>
            <a:r>
              <a:rPr lang="en-US" sz="1400" b="1" dirty="0">
                <a:solidFill>
                  <a:srgbClr val="1F3B4D"/>
                </a:solidFill>
                <a:latin typeface="Calibri" pitchFamily="34" charset="0"/>
                <a:ea typeface="Calibri" pitchFamily="34" charset="-122"/>
                <a:cs typeface="Calibri" pitchFamily="34" charset="-120"/>
              </a:rPr>
              <a:t>Checkpointing &amp; recovery</a:t>
            </a:r>
            <a:endParaRPr lang="en-US" sz="1400" dirty="0"/>
          </a:p>
        </p:txBody>
      </p:sp>
      <p:sp>
        <p:nvSpPr>
          <p:cNvPr id="18" name="Text 16"/>
          <p:cNvSpPr txBox="1"/>
          <p:nvPr/>
        </p:nvSpPr>
        <p:spPr>
          <a:xfrm>
            <a:off x="868680" y="4773168"/>
            <a:ext cx="5044288" cy="932688"/>
          </a:xfrm>
          <a:prstGeom prst="rect">
            <a:avLst/>
          </a:prstGeom>
          <a:noFill/>
          <a:ln/>
        </p:spPr>
        <p:txBody>
          <a:bodyPr wrap="square" lIns="0" tIns="0" rIns="0" bIns="0" rtlCol="0" anchor="t"/>
          <a:lstStyle/>
          <a:p>
            <a:pPr indent="0" marL="0">
              <a:lnSpc>
                <a:spcPct val="112000"/>
              </a:lnSpc>
              <a:buNone/>
            </a:pPr>
            <a:r>
              <a:rPr lang="en-US" sz="1150" dirty="0">
                <a:solidFill>
                  <a:srgbClr val="2B2B2B"/>
                </a:solidFill>
                <a:latin typeface="Calibri" pitchFamily="34" charset="0"/>
                <a:ea typeface="Calibri" pitchFamily="34" charset="-122"/>
                <a:cs typeface="Calibri" pitchFamily="34" charset="-120"/>
              </a:rPr>
              <a:t>Spark Structured Streaming checkpoints offsets, so a restarted job resumes exactly where it left off instead of reprocessing or skipping events.</a:t>
            </a:r>
            <a:endParaRPr lang="en-US" sz="1150" dirty="0"/>
          </a:p>
        </p:txBody>
      </p:sp>
      <p:sp>
        <p:nvSpPr>
          <p:cNvPr id="19" name="Text 17"/>
          <p:cNvSpPr txBox="1"/>
          <p:nvPr/>
        </p:nvSpPr>
        <p:spPr>
          <a:xfrm>
            <a:off x="6278728" y="4425696"/>
            <a:ext cx="320040" cy="320040"/>
          </a:xfrm>
          <a:prstGeom prst="rect">
            <a:avLst/>
          </a:prstGeom>
          <a:noFill/>
          <a:ln/>
        </p:spPr>
        <p:txBody>
          <a:bodyPr wrap="square" lIns="0" tIns="0" rIns="0" bIns="0" rtlCol="0" anchor="ctr"/>
          <a:lstStyle/>
          <a:p>
            <a:pPr indent="0" marL="0">
              <a:buNone/>
            </a:pPr>
            <a:r>
              <a:rPr lang="en-US" sz="1600" b="1" dirty="0">
                <a:solidFill>
                  <a:srgbClr val="1F3B4D"/>
                </a:solidFill>
                <a:latin typeface="Calibri" pitchFamily="34" charset="0"/>
                <a:ea typeface="Calibri" pitchFamily="34" charset="-122"/>
                <a:cs typeface="Calibri" pitchFamily="34" charset="-120"/>
              </a:rPr>
              <a:t>✓</a:t>
            </a:r>
            <a:endParaRPr lang="en-US" sz="1600" dirty="0"/>
          </a:p>
        </p:txBody>
      </p:sp>
      <p:sp>
        <p:nvSpPr>
          <p:cNvPr id="20" name="Text 18"/>
          <p:cNvSpPr txBox="1"/>
          <p:nvPr/>
        </p:nvSpPr>
        <p:spPr>
          <a:xfrm>
            <a:off x="6598768" y="4425696"/>
            <a:ext cx="5044288" cy="320040"/>
          </a:xfrm>
          <a:prstGeom prst="rect">
            <a:avLst/>
          </a:prstGeom>
          <a:noFill/>
          <a:ln/>
        </p:spPr>
        <p:txBody>
          <a:bodyPr wrap="square" lIns="0" tIns="0" rIns="0" bIns="0" rtlCol="0" anchor="ctr"/>
          <a:lstStyle/>
          <a:p>
            <a:pPr indent="0" marL="0">
              <a:buNone/>
            </a:pPr>
            <a:r>
              <a:rPr lang="en-US" sz="1400" b="1" dirty="0">
                <a:solidFill>
                  <a:srgbClr val="1F3B4D"/>
                </a:solidFill>
                <a:latin typeface="Calibri" pitchFamily="34" charset="0"/>
                <a:ea typeface="Calibri" pitchFamily="34" charset="-122"/>
                <a:cs typeface="Calibri" pitchFamily="34" charset="-120"/>
              </a:rPr>
              <a:t>Version control</a:t>
            </a:r>
            <a:endParaRPr lang="en-US" sz="1400" dirty="0"/>
          </a:p>
        </p:txBody>
      </p:sp>
      <p:sp>
        <p:nvSpPr>
          <p:cNvPr id="21" name="Text 19"/>
          <p:cNvSpPr txBox="1"/>
          <p:nvPr/>
        </p:nvSpPr>
        <p:spPr>
          <a:xfrm>
            <a:off x="6598768" y="4773168"/>
            <a:ext cx="5044288" cy="932688"/>
          </a:xfrm>
          <a:prstGeom prst="rect">
            <a:avLst/>
          </a:prstGeom>
          <a:noFill/>
          <a:ln/>
        </p:spPr>
        <p:txBody>
          <a:bodyPr wrap="square" lIns="0" tIns="0" rIns="0" bIns="0" rtlCol="0" anchor="t"/>
          <a:lstStyle/>
          <a:p>
            <a:pPr indent="0" marL="0">
              <a:lnSpc>
                <a:spcPct val="112000"/>
              </a:lnSpc>
              <a:buNone/>
            </a:pPr>
            <a:r>
              <a:rPr lang="en-US" sz="1150" dirty="0">
                <a:solidFill>
                  <a:srgbClr val="2B2B2B"/>
                </a:solidFill>
                <a:latin typeface="Calibri" pitchFamily="34" charset="0"/>
                <a:ea typeface="Calibri" pitchFamily="34" charset="-122"/>
                <a:cs typeface="Calibri" pitchFamily="34" charset="-120"/>
              </a:rPr>
              <a:t>Work is committed incrementally on GitHub — producer, then Kafka topic setup, then the Spark job, then Docker Compose — keeping each milestone reviewable.</a:t>
            </a:r>
            <a:endParaRPr lang="en-US" sz="1150" dirty="0"/>
          </a:p>
        </p:txBody>
      </p:sp>
      <p:sp>
        <p:nvSpPr>
          <p:cNvPr id="22" name="Text 20"/>
          <p:cNvSpPr txBox="1"/>
          <p:nvPr/>
        </p:nvSpPr>
        <p:spPr>
          <a:xfrm>
            <a:off x="11551615" y="6446520"/>
            <a:ext cx="365760" cy="274320"/>
          </a:xfrm>
          <a:prstGeom prst="rect">
            <a:avLst/>
          </a:prstGeom>
          <a:noFill/>
          <a:ln/>
        </p:spPr>
        <p:txBody>
          <a:bodyPr wrap="square" lIns="0" tIns="0" rIns="0" bIns="0" rtlCol="0" anchor="ctr"/>
          <a:lstStyle/>
          <a:p>
            <a:pPr algn="r" indent="0" marL="0">
              <a:buNone/>
            </a:pPr>
            <a:r>
              <a:rPr lang="en-US" sz="1100" dirty="0">
                <a:solidFill>
                  <a:srgbClr val="6E6E6E"/>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spc="100" kern="0" dirty="0">
                <a:solidFill>
                  <a:srgbClr val="6E6E6E"/>
                </a:solidFill>
                <a:latin typeface="Calibri" pitchFamily="34" charset="0"/>
                <a:ea typeface="Calibri" pitchFamily="34" charset="-122"/>
                <a:cs typeface="Calibri" pitchFamily="34" charset="-120"/>
              </a:rPr>
              <a:t>IMPLEMENTATION, CODING QUALITY &amp; FUNCTIONALITY</a:t>
            </a:r>
            <a:endParaRPr lang="en-US" sz="1300" dirty="0"/>
          </a:p>
        </p:txBody>
      </p:sp>
      <p:sp>
        <p:nvSpPr>
          <p:cNvPr id="3" name="Text 1"/>
          <p:cNvSpPr txBox="1"/>
          <p:nvPr/>
        </p:nvSpPr>
        <p:spPr>
          <a:xfrm>
            <a:off x="548640" y="685800"/>
            <a:ext cx="11094415" cy="548640"/>
          </a:xfrm>
          <a:prstGeom prst="rect">
            <a:avLst/>
          </a:prstGeom>
          <a:noFill/>
          <a:ln/>
        </p:spPr>
        <p:txBody>
          <a:bodyPr wrap="square" lIns="0" tIns="0" rIns="0" bIns="0" rtlCol="0" anchor="ctr"/>
          <a:lstStyle/>
          <a:p>
            <a:pPr indent="0" marL="0">
              <a:buNone/>
            </a:pPr>
            <a:r>
              <a:rPr lang="en-US" sz="2600" b="1" dirty="0">
                <a:solidFill>
                  <a:srgbClr val="1F3B4D"/>
                </a:solidFill>
                <a:latin typeface="Calibri" pitchFamily="34" charset="0"/>
                <a:ea typeface="Calibri" pitchFamily="34" charset="-122"/>
                <a:cs typeface="Calibri" pitchFamily="34" charset="-120"/>
              </a:rPr>
              <a:t>Functionality Demonstration</a:t>
            </a:r>
            <a:endParaRPr lang="en-US" sz="2600" dirty="0"/>
          </a:p>
        </p:txBody>
      </p:sp>
      <p:sp>
        <p:nvSpPr>
          <p:cNvPr id="4" name="Text 2"/>
          <p:cNvSpPr txBox="1"/>
          <p:nvPr/>
        </p:nvSpPr>
        <p:spPr>
          <a:xfrm>
            <a:off x="548640" y="1554480"/>
            <a:ext cx="11094415" cy="320040"/>
          </a:xfrm>
          <a:prstGeom prst="rect">
            <a:avLst/>
          </a:prstGeom>
          <a:noFill/>
          <a:ln/>
        </p:spPr>
        <p:txBody>
          <a:bodyPr wrap="square" lIns="0" tIns="0" rIns="0" bIns="0" rtlCol="0" anchor="ctr"/>
          <a:lstStyle/>
          <a:p>
            <a:pPr indent="0" marL="0">
              <a:buNone/>
            </a:pPr>
            <a:r>
              <a:rPr lang="en-US" sz="1400" b="1" dirty="0">
                <a:solidFill>
                  <a:srgbClr val="1F3B4D"/>
                </a:solidFill>
                <a:latin typeface="Calibri" pitchFamily="34" charset="0"/>
                <a:ea typeface="Calibri" pitchFamily="34" charset="-122"/>
                <a:cs typeface="Calibri" pitchFamily="34" charset="-120"/>
              </a:rPr>
              <a:t>Sample rolling-output (illustrative)</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1828800"/>
        </p:xfrm>
        <a:graphic>
          <a:graphicData uri="http://schemas.openxmlformats.org/drawingml/2006/table">
            <a:tbl>
              <a:tblPr/>
              <a:tblGrid>
                <a:gridCol w="2773604"/>
                <a:gridCol w="2773604"/>
                <a:gridCol w="2773604"/>
                <a:gridCol w="2773604"/>
              </a:tblGrid>
              <a:tr h="304800">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Region</a:t>
                      </a:r>
                      <a:endParaRPr lang="en-US" sz="125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1F3B4D"/>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Cumulative Cases</a:t>
                      </a:r>
                      <a:endParaRPr lang="en-US" sz="125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1F3B4D"/>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Cumulative Deaths</a:t>
                      </a:r>
                      <a:endParaRPr lang="en-US" sz="125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1F3B4D"/>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Last Updated</a:t>
                      </a:r>
                      <a:endParaRPr lang="en-US" sz="125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1F3B4D"/>
                    </a:solidFill>
                  </a:tcPr>
                </a:tc>
              </a:tr>
              <a:tr h="304800">
                <a:tc>
                  <a:txBody>
                    <a:bodyPr/>
                    <a:lstStyle/>
                    <a:p>
                      <a:pPr algn="ctr" indent="0" marL="0">
                        <a:buNone/>
                      </a:pPr>
                      <a:r>
                        <a:rPr lang="en-US" sz="1200" b="1" dirty="0">
                          <a:solidFill>
                            <a:srgbClr val="1F3B4D"/>
                          </a:solidFill>
                          <a:latin typeface="Calibri" pitchFamily="34" charset="0"/>
                          <a:ea typeface="Calibri" pitchFamily="34" charset="-122"/>
                          <a:cs typeface="Calibri" pitchFamily="34" charset="-120"/>
                        </a:rPr>
                        <a:t>Region A</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1,842</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37</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Batch 42</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r>
              <a:tr h="304800">
                <a:tc>
                  <a:txBody>
                    <a:bodyPr/>
                    <a:lstStyle/>
                    <a:p>
                      <a:pPr algn="ctr" indent="0" marL="0">
                        <a:buNone/>
                      </a:pPr>
                      <a:r>
                        <a:rPr lang="en-US" sz="1200" b="1" dirty="0">
                          <a:solidFill>
                            <a:srgbClr val="1F3B4D"/>
                          </a:solidFill>
                          <a:latin typeface="Calibri" pitchFamily="34" charset="0"/>
                          <a:ea typeface="Calibri" pitchFamily="34" charset="-122"/>
                          <a:cs typeface="Calibri" pitchFamily="34" charset="-120"/>
                        </a:rPr>
                        <a:t>Region B</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963</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Batch 42</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r>
              <a:tr h="304800">
                <a:tc>
                  <a:txBody>
                    <a:bodyPr/>
                    <a:lstStyle/>
                    <a:p>
                      <a:pPr algn="ctr" indent="0" marL="0">
                        <a:buNone/>
                      </a:pPr>
                      <a:r>
                        <a:rPr lang="en-US" sz="1200" b="1" dirty="0">
                          <a:solidFill>
                            <a:srgbClr val="1F3B4D"/>
                          </a:solidFill>
                          <a:latin typeface="Calibri" pitchFamily="34" charset="0"/>
                          <a:ea typeface="Calibri" pitchFamily="34" charset="-122"/>
                          <a:cs typeface="Calibri" pitchFamily="34" charset="-120"/>
                        </a:rPr>
                        <a:t>Region C</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2,105</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51</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Batch 42</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r>
              <a:tr h="304800">
                <a:tc>
                  <a:txBody>
                    <a:bodyPr/>
                    <a:lstStyle/>
                    <a:p>
                      <a:pPr algn="ctr" indent="0" marL="0">
                        <a:buNone/>
                      </a:pPr>
                      <a:r>
                        <a:rPr lang="en-US" sz="1200" b="1" dirty="0">
                          <a:solidFill>
                            <a:srgbClr val="1F3B4D"/>
                          </a:solidFill>
                          <a:latin typeface="Calibri" pitchFamily="34" charset="0"/>
                          <a:ea typeface="Calibri" pitchFamily="34" charset="-122"/>
                          <a:cs typeface="Calibri" pitchFamily="34" charset="-120"/>
                        </a:rPr>
                        <a:t>Region D</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1,320</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29</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Batch 42</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r>
              <a:tr h="304800">
                <a:tc>
                  <a:txBody>
                    <a:bodyPr/>
                    <a:lstStyle/>
                    <a:p>
                      <a:pPr algn="ctr" indent="0" marL="0">
                        <a:buNone/>
                      </a:pPr>
                      <a:r>
                        <a:rPr lang="en-US" sz="1200" b="1" dirty="0">
                          <a:solidFill>
                            <a:srgbClr val="1F3B4D"/>
                          </a:solidFill>
                          <a:latin typeface="Calibri" pitchFamily="34" charset="0"/>
                          <a:ea typeface="Calibri" pitchFamily="34" charset="-122"/>
                          <a:cs typeface="Calibri" pitchFamily="34" charset="-120"/>
                        </a:rPr>
                        <a:t>Region E</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877</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Batch 42</a:t>
                      </a:r>
                      <a:endParaRPr lang="en-US" sz="1200" dirty="0">
                        <a:latin typeface="Calibri" charset="0"/>
                        <a:ea typeface="Calibri" charset="0"/>
                        <a:cs typeface="Calibri" charset="0"/>
                      </a:endParaRPr>
                    </a:p>
                  </a:txBody>
                  <a:tcPr marL="91440" marR="91440" marT="45720" marB="45720" anchor="ctr">
                    <a:lnL w="9525" cap="flat" cmpd="sng" algn="ctr">
                      <a:solidFill>
                        <a:srgbClr val="DADFE1"/>
                      </a:solidFill>
                      <a:prstDash val="solid"/>
                      <a:round/>
                      <a:headEnd type="none" w="med" len="med"/>
                      <a:tailEnd type="none" w="med" len="med"/>
                    </a:lnL>
                    <a:lnR w="9525" cap="flat" cmpd="sng" algn="ctr">
                      <a:solidFill>
                        <a:srgbClr val="DADFE1"/>
                      </a:solidFill>
                      <a:prstDash val="solid"/>
                      <a:round/>
                      <a:headEnd type="none" w="med" len="med"/>
                      <a:tailEnd type="none" w="med" len="med"/>
                    </a:lnR>
                    <a:lnT w="9525" cap="flat" cmpd="sng" algn="ctr">
                      <a:solidFill>
                        <a:srgbClr val="DADFE1"/>
                      </a:solidFill>
                      <a:prstDash val="solid"/>
                      <a:round/>
                      <a:headEnd type="none" w="med" len="med"/>
                      <a:tailEnd type="none" w="med" len="med"/>
                    </a:lnT>
                    <a:lnB w="9525" cap="flat" cmpd="sng" algn="ctr">
                      <a:solidFill>
                        <a:srgbClr val="DADFE1"/>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4114800"/>
            <a:ext cx="2743200" cy="320040"/>
          </a:xfrm>
          <a:prstGeom prst="rect">
            <a:avLst/>
          </a:prstGeom>
          <a:noFill/>
          <a:ln/>
        </p:spPr>
        <p:txBody>
          <a:bodyPr wrap="square" lIns="0" tIns="0" rIns="0" bIns="0" rtlCol="0" anchor="ctr"/>
          <a:lstStyle/>
          <a:p>
            <a:pPr indent="0" marL="0">
              <a:buNone/>
            </a:pPr>
            <a:r>
              <a:rPr lang="en-US" sz="1400" b="1" dirty="0">
                <a:solidFill>
                  <a:srgbClr val="1F3B4D"/>
                </a:solidFill>
                <a:latin typeface="Calibri" pitchFamily="34" charset="0"/>
                <a:ea typeface="Calibri" pitchFamily="34" charset="-122"/>
                <a:cs typeface="Calibri" pitchFamily="34" charset="-120"/>
              </a:rPr>
              <a:t>What this shows</a:t>
            </a:r>
            <a:endParaRPr lang="en-US" sz="1400" dirty="0"/>
          </a:p>
        </p:txBody>
      </p:sp>
      <p:sp>
        <p:nvSpPr>
          <p:cNvPr id="7" name="Text 4"/>
          <p:cNvSpPr txBox="1"/>
          <p:nvPr/>
        </p:nvSpPr>
        <p:spPr>
          <a:xfrm>
            <a:off x="548640" y="4480560"/>
            <a:ext cx="11094415" cy="155448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2B2B2B"/>
                </a:solidFill>
                <a:latin typeface="Calibri" pitchFamily="34" charset="0"/>
                <a:ea typeface="Calibri" pitchFamily="34" charset="-122"/>
                <a:cs typeface="Calibri" pitchFamily="34" charset="-120"/>
              </a:rPr>
              <a:t>Totals update per micro-batch as events stream in, rather than on a fixed daily/weekly refresh.</a:t>
            </a:r>
            <a:endParaRPr lang="en-US" sz="1300" dirty="0"/>
          </a:p>
          <a:p>
            <a:pPr marL="342900" indent="-342900">
              <a:spcAft>
                <a:spcPts val="1000"/>
              </a:spcAft>
              <a:buSzPct val="100000"/>
              <a:buChar char="•"/>
            </a:pPr>
            <a:r>
              <a:rPr lang="en-US" sz="1300" dirty="0">
                <a:solidFill>
                  <a:srgbClr val="2B2B2B"/>
                </a:solidFill>
                <a:latin typeface="Calibri" pitchFamily="34" charset="0"/>
                <a:ea typeface="Calibri" pitchFamily="34" charset="-122"/>
                <a:cs typeface="Calibri" pitchFamily="34" charset="-120"/>
              </a:rPr>
              <a:t>All 5 regions are tracked independently, matching the simulated 60-day dataset.</a:t>
            </a:r>
            <a:endParaRPr lang="en-US" sz="1300" dirty="0"/>
          </a:p>
          <a:p>
            <a:pPr marL="342900" indent="-342900">
              <a:spcAft>
                <a:spcPts val="1000"/>
              </a:spcAft>
              <a:buSzPct val="100000"/>
              <a:buChar char="•"/>
            </a:pPr>
            <a:r>
              <a:rPr lang="en-US" sz="1300" dirty="0">
                <a:solidFill>
                  <a:srgbClr val="2B2B2B"/>
                </a:solidFill>
                <a:latin typeface="Calibri" pitchFamily="34" charset="0"/>
                <a:ea typeface="Calibri" pitchFamily="34" charset="-122"/>
                <a:cs typeface="Calibri" pitchFamily="34" charset="-120"/>
              </a:rPr>
              <a:t>Restarting the Spark consumer mid-stream resumes from the last checkpoint with no duplicated or dropped events.</a:t>
            </a:r>
            <a:endParaRPr lang="en-US" sz="1300" dirty="0"/>
          </a:p>
        </p:txBody>
      </p:sp>
      <p:sp>
        <p:nvSpPr>
          <p:cNvPr id="8" name="Text 5"/>
          <p:cNvSpPr txBox="1"/>
          <p:nvPr/>
        </p:nvSpPr>
        <p:spPr>
          <a:xfrm>
            <a:off x="11551615" y="6446520"/>
            <a:ext cx="365760" cy="274320"/>
          </a:xfrm>
          <a:prstGeom prst="rect">
            <a:avLst/>
          </a:prstGeom>
          <a:noFill/>
          <a:ln/>
        </p:spPr>
        <p:txBody>
          <a:bodyPr wrap="square" lIns="0" tIns="0" rIns="0" bIns="0" rtlCol="0" anchor="ctr"/>
          <a:lstStyle/>
          <a:p>
            <a:pPr algn="r" indent="0" marL="0">
              <a:buNone/>
            </a:pPr>
            <a:r>
              <a:rPr lang="en-US" sz="1100" dirty="0">
                <a:solidFill>
                  <a:srgbClr val="6E6E6E"/>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spc="100" kern="0" dirty="0">
                <a:solidFill>
                  <a:srgbClr val="6E6E6E"/>
                </a:solidFill>
                <a:latin typeface="Calibri" pitchFamily="34" charset="0"/>
                <a:ea typeface="Calibri" pitchFamily="34" charset="-122"/>
                <a:cs typeface="Calibri" pitchFamily="34" charset="-120"/>
              </a:rPr>
              <a:t>SUMMARY</a:t>
            </a:r>
            <a:endParaRPr lang="en-US" sz="1300" dirty="0"/>
          </a:p>
        </p:txBody>
      </p:sp>
      <p:sp>
        <p:nvSpPr>
          <p:cNvPr id="3" name="Text 1"/>
          <p:cNvSpPr txBox="1"/>
          <p:nvPr/>
        </p:nvSpPr>
        <p:spPr>
          <a:xfrm>
            <a:off x="548640" y="685800"/>
            <a:ext cx="11094415" cy="548640"/>
          </a:xfrm>
          <a:prstGeom prst="rect">
            <a:avLst/>
          </a:prstGeom>
          <a:noFill/>
          <a:ln/>
        </p:spPr>
        <p:txBody>
          <a:bodyPr wrap="square" lIns="0" tIns="0" rIns="0" bIns="0" rtlCol="0" anchor="ctr"/>
          <a:lstStyle/>
          <a:p>
            <a:pPr indent="0" marL="0">
              <a:buNone/>
            </a:pPr>
            <a:r>
              <a:rPr lang="en-US" sz="2600" b="1" dirty="0">
                <a:solidFill>
                  <a:srgbClr val="1F3B4D"/>
                </a:solidFill>
                <a:latin typeface="Calibri" pitchFamily="34" charset="0"/>
                <a:ea typeface="Calibri" pitchFamily="34" charset="-122"/>
                <a:cs typeface="Calibri" pitchFamily="34" charset="-120"/>
              </a:rPr>
              <a:t>Current Status &amp; Next Steps</a:t>
            </a:r>
            <a:endParaRPr lang="en-US" sz="2600" dirty="0"/>
          </a:p>
        </p:txBody>
      </p:sp>
      <p:sp>
        <p:nvSpPr>
          <p:cNvPr id="4" name="Shape 2"/>
          <p:cNvSpPr/>
          <p:nvPr/>
        </p:nvSpPr>
        <p:spPr>
          <a:xfrm>
            <a:off x="548640" y="1554480"/>
            <a:ext cx="5318608" cy="3931920"/>
          </a:xfrm>
          <a:prstGeom prst="roundRect">
            <a:avLst>
              <a:gd name="adj" fmla="val 1860"/>
            </a:avLst>
          </a:prstGeom>
          <a:solidFill>
            <a:srgbClr val="F4F6F7"/>
          </a:solidFill>
          <a:ln/>
        </p:spPr>
      </p:sp>
      <p:sp>
        <p:nvSpPr>
          <p:cNvPr id="5" name="Text 3"/>
          <p:cNvSpPr txBox="1"/>
          <p:nvPr/>
        </p:nvSpPr>
        <p:spPr>
          <a:xfrm>
            <a:off x="868680" y="1783080"/>
            <a:ext cx="4678528" cy="457200"/>
          </a:xfrm>
          <a:prstGeom prst="rect">
            <a:avLst/>
          </a:prstGeom>
          <a:noFill/>
          <a:ln/>
        </p:spPr>
        <p:txBody>
          <a:bodyPr wrap="square" lIns="0" tIns="0" rIns="0" bIns="0" rtlCol="0" anchor="ctr"/>
          <a:lstStyle/>
          <a:p>
            <a:pPr indent="0" marL="0">
              <a:buNone/>
            </a:pPr>
            <a:r>
              <a:rPr lang="en-US" sz="1600" b="1" dirty="0">
                <a:solidFill>
                  <a:srgbClr val="1F3B4D"/>
                </a:solidFill>
                <a:latin typeface="Calibri" pitchFamily="34" charset="0"/>
                <a:ea typeface="Calibri" pitchFamily="34" charset="-122"/>
                <a:cs typeface="Calibri" pitchFamily="34" charset="-120"/>
              </a:rPr>
              <a:t>Done</a:t>
            </a:r>
            <a:endParaRPr lang="en-US" sz="1600" dirty="0"/>
          </a:p>
        </p:txBody>
      </p:sp>
      <p:sp>
        <p:nvSpPr>
          <p:cNvPr id="6" name="Text 4"/>
          <p:cNvSpPr txBox="1"/>
          <p:nvPr/>
        </p:nvSpPr>
        <p:spPr>
          <a:xfrm>
            <a:off x="868680" y="2331720"/>
            <a:ext cx="4678528" cy="2926080"/>
          </a:xfrm>
          <a:prstGeom prst="rect">
            <a:avLst/>
          </a:prstGeom>
          <a:noFill/>
          <a:ln/>
        </p:spPr>
        <p:txBody>
          <a:bodyPr wrap="square" lIns="0" tIns="0" rIns="0" bIns="0" rtlCol="0" anchor="t"/>
          <a:lstStyle/>
          <a:p>
            <a:pPr marL="342900" indent="-342900">
              <a:spcAft>
                <a:spcPts val="1400"/>
              </a:spcAft>
              <a:buSzPct val="100000"/>
              <a:buChar char="•"/>
            </a:pPr>
            <a:r>
              <a:rPr lang="en-US" sz="1350" dirty="0">
                <a:solidFill>
                  <a:srgbClr val="2B2B2B"/>
                </a:solidFill>
                <a:latin typeface="Calibri" pitchFamily="34" charset="0"/>
                <a:ea typeface="Calibri" pitchFamily="34" charset="-122"/>
                <a:cs typeface="Calibri" pitchFamily="34" charset="-120"/>
              </a:rPr>
              <a:t>Producer, Kafka topic, and Spark streaming job implemented and wired together</a:t>
            </a:r>
            <a:endParaRPr lang="en-US" sz="1350" dirty="0"/>
          </a:p>
          <a:p>
            <a:pPr marL="342900" indent="-342900">
              <a:spcAft>
                <a:spcPts val="1400"/>
              </a:spcAft>
              <a:buSzPct val="100000"/>
              <a:buChar char="•"/>
            </a:pPr>
            <a:r>
              <a:rPr lang="en-US" sz="1350" dirty="0">
                <a:solidFill>
                  <a:srgbClr val="2B2B2B"/>
                </a:solidFill>
                <a:latin typeface="Calibri" pitchFamily="34" charset="0"/>
                <a:ea typeface="Calibri" pitchFamily="34" charset="-122"/>
                <a:cs typeface="Calibri" pitchFamily="34" charset="-120"/>
              </a:rPr>
              <a:t>Docker Compose environment brings up the full pipeline with one command</a:t>
            </a:r>
            <a:endParaRPr lang="en-US" sz="1350" dirty="0"/>
          </a:p>
          <a:p>
            <a:pPr marL="342900" indent="-342900">
              <a:spcAft>
                <a:spcPts val="1400"/>
              </a:spcAft>
              <a:buSzPct val="100000"/>
              <a:buChar char="•"/>
            </a:pPr>
            <a:r>
              <a:rPr lang="en-US" sz="1350" dirty="0">
                <a:solidFill>
                  <a:srgbClr val="2B2B2B"/>
                </a:solidFill>
                <a:latin typeface="Calibri" pitchFamily="34" charset="0"/>
                <a:ea typeface="Calibri" pitchFamily="34" charset="-122"/>
                <a:cs typeface="Calibri" pitchFamily="34" charset="-120"/>
              </a:rPr>
              <a:t>Rolling regional aggregation verified across the simulated 60-day dataset</a:t>
            </a:r>
            <a:endParaRPr lang="en-US" sz="1350" dirty="0"/>
          </a:p>
        </p:txBody>
      </p:sp>
      <p:sp>
        <p:nvSpPr>
          <p:cNvPr id="7" name="Shape 5"/>
          <p:cNvSpPr/>
          <p:nvPr/>
        </p:nvSpPr>
        <p:spPr>
          <a:xfrm>
            <a:off x="6095848" y="1554480"/>
            <a:ext cx="5318608" cy="3931920"/>
          </a:xfrm>
          <a:prstGeom prst="roundRect">
            <a:avLst>
              <a:gd name="adj" fmla="val 1860"/>
            </a:avLst>
          </a:prstGeom>
          <a:solidFill>
            <a:srgbClr val="F4F6F7"/>
          </a:solidFill>
          <a:ln/>
        </p:spPr>
      </p:sp>
      <p:sp>
        <p:nvSpPr>
          <p:cNvPr id="8" name="Text 6"/>
          <p:cNvSpPr txBox="1"/>
          <p:nvPr/>
        </p:nvSpPr>
        <p:spPr>
          <a:xfrm>
            <a:off x="6415888" y="1783080"/>
            <a:ext cx="4678528" cy="457200"/>
          </a:xfrm>
          <a:prstGeom prst="rect">
            <a:avLst/>
          </a:prstGeom>
          <a:noFill/>
          <a:ln/>
        </p:spPr>
        <p:txBody>
          <a:bodyPr wrap="square" lIns="0" tIns="0" rIns="0" bIns="0" rtlCol="0" anchor="ctr"/>
          <a:lstStyle/>
          <a:p>
            <a:pPr indent="0" marL="0">
              <a:buNone/>
            </a:pPr>
            <a:r>
              <a:rPr lang="en-US" sz="1600" b="1" dirty="0">
                <a:solidFill>
                  <a:srgbClr val="1F3B4D"/>
                </a:solidFill>
                <a:latin typeface="Calibri" pitchFamily="34" charset="0"/>
                <a:ea typeface="Calibri" pitchFamily="34" charset="-122"/>
                <a:cs typeface="Calibri" pitchFamily="34" charset="-120"/>
              </a:rPr>
              <a:t>Next</a:t>
            </a:r>
            <a:endParaRPr lang="en-US" sz="1600" dirty="0"/>
          </a:p>
        </p:txBody>
      </p:sp>
      <p:sp>
        <p:nvSpPr>
          <p:cNvPr id="9" name="Text 7"/>
          <p:cNvSpPr txBox="1"/>
          <p:nvPr/>
        </p:nvSpPr>
        <p:spPr>
          <a:xfrm>
            <a:off x="6415888" y="2331720"/>
            <a:ext cx="4678528" cy="2926080"/>
          </a:xfrm>
          <a:prstGeom prst="rect">
            <a:avLst/>
          </a:prstGeom>
          <a:noFill/>
          <a:ln/>
        </p:spPr>
        <p:txBody>
          <a:bodyPr wrap="square" lIns="0" tIns="0" rIns="0" bIns="0" rtlCol="0" anchor="t"/>
          <a:lstStyle/>
          <a:p>
            <a:pPr marL="342900" indent="-342900">
              <a:spcAft>
                <a:spcPts val="1400"/>
              </a:spcAft>
              <a:buSzPct val="100000"/>
              <a:buChar char="•"/>
            </a:pPr>
            <a:r>
              <a:rPr lang="en-US" sz="1350" dirty="0">
                <a:solidFill>
                  <a:srgbClr val="2B2B2B"/>
                </a:solidFill>
                <a:latin typeface="Calibri" pitchFamily="34" charset="0"/>
                <a:ea typeface="Calibri" pitchFamily="34" charset="-122"/>
                <a:cs typeface="Calibri" pitchFamily="34" charset="-120"/>
              </a:rPr>
              <a:t>Persist rolling trends to a lightweight store for historical queries</a:t>
            </a:r>
            <a:endParaRPr lang="en-US" sz="1350" dirty="0"/>
          </a:p>
          <a:p>
            <a:pPr marL="342900" indent="-342900">
              <a:spcAft>
                <a:spcPts val="1400"/>
              </a:spcAft>
              <a:buSzPct val="100000"/>
              <a:buChar char="•"/>
            </a:pPr>
            <a:r>
              <a:rPr lang="en-US" sz="1350" dirty="0">
                <a:solidFill>
                  <a:srgbClr val="2B2B2B"/>
                </a:solidFill>
                <a:latin typeface="Calibri" pitchFamily="34" charset="0"/>
                <a:ea typeface="Calibri" pitchFamily="34" charset="-122"/>
                <a:cs typeface="Calibri" pitchFamily="34" charset="-120"/>
              </a:rPr>
              <a:t>Add a simple dashboard to visualize trends as they update</a:t>
            </a:r>
            <a:endParaRPr lang="en-US" sz="1350" dirty="0"/>
          </a:p>
          <a:p>
            <a:pPr marL="342900" indent="-342900">
              <a:spcAft>
                <a:spcPts val="1400"/>
              </a:spcAft>
              <a:buSzPct val="100000"/>
              <a:buChar char="•"/>
            </a:pPr>
            <a:r>
              <a:rPr lang="en-US" sz="1350" dirty="0">
                <a:solidFill>
                  <a:srgbClr val="2B2B2B"/>
                </a:solidFill>
                <a:latin typeface="Calibri" pitchFamily="34" charset="0"/>
                <a:ea typeface="Calibri" pitchFamily="34" charset="-122"/>
                <a:cs typeface="Calibri" pitchFamily="34" charset="-120"/>
              </a:rPr>
              <a:t>Introduce alerting when a region's case count crosses a threshold</a:t>
            </a:r>
            <a:endParaRPr lang="en-US" sz="1350" dirty="0"/>
          </a:p>
        </p:txBody>
      </p:sp>
      <p:sp>
        <p:nvSpPr>
          <p:cNvPr id="10" name="Text 8"/>
          <p:cNvSpPr txBox="1"/>
          <p:nvPr/>
        </p:nvSpPr>
        <p:spPr>
          <a:xfrm>
            <a:off x="11551615" y="6446520"/>
            <a:ext cx="365760" cy="274320"/>
          </a:xfrm>
          <a:prstGeom prst="rect">
            <a:avLst/>
          </a:prstGeom>
          <a:noFill/>
          <a:ln/>
        </p:spPr>
        <p:txBody>
          <a:bodyPr wrap="square" lIns="0" tIns="0" rIns="0" bIns="0" rtlCol="0" anchor="ctr"/>
          <a:lstStyle/>
          <a:p>
            <a:pPr algn="r" indent="0" marL="0">
              <a:buNone/>
            </a:pPr>
            <a:r>
              <a:rPr lang="en-US" sz="1100" dirty="0">
                <a:solidFill>
                  <a:srgbClr val="6E6E6E"/>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1280160"/>
            <a:ext cx="0" cy="4297680"/>
          </a:xfrm>
          <a:prstGeom prst="line">
            <a:avLst/>
          </a:prstGeom>
          <a:noFill/>
          <a:ln w="25400">
            <a:solidFill>
              <a:srgbClr val="1F3B4D"/>
            </a:solidFill>
            <a:prstDash val="solid"/>
          </a:ln>
        </p:spPr>
      </p:sp>
      <p:sp>
        <p:nvSpPr>
          <p:cNvPr id="3" name="Text 1"/>
          <p:cNvSpPr txBox="1"/>
          <p:nvPr/>
        </p:nvSpPr>
        <p:spPr>
          <a:xfrm>
            <a:off x="1188720" y="3017520"/>
            <a:ext cx="7315200" cy="731520"/>
          </a:xfrm>
          <a:prstGeom prst="rect">
            <a:avLst/>
          </a:prstGeom>
          <a:noFill/>
          <a:ln/>
        </p:spPr>
        <p:txBody>
          <a:bodyPr wrap="square" lIns="0" tIns="0" rIns="0" bIns="0" rtlCol="0" anchor="ctr"/>
          <a:lstStyle/>
          <a:p>
            <a:pPr indent="0" marL="0">
              <a:buNone/>
            </a:pPr>
            <a:r>
              <a:rPr lang="en-US" sz="3000" b="1" dirty="0">
                <a:solidFill>
                  <a:srgbClr val="1F3B4D"/>
                </a:solidFill>
                <a:latin typeface="Calibri" pitchFamily="34" charset="0"/>
                <a:ea typeface="Calibri" pitchFamily="34" charset="-122"/>
                <a:cs typeface="Calibri" pitchFamily="34" charset="-120"/>
              </a:rPr>
              <a:t>Thank You</a:t>
            </a:r>
            <a:endParaRPr lang="en-US" sz="3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21792"/>
            <a:ext cx="11247120" cy="548640"/>
          </a:xfrm>
          <a:prstGeom prst="rect">
            <a:avLst/>
          </a:prstGeom>
          <a:noFill/>
          <a:ln/>
        </p:spPr>
        <p:txBody>
          <a:bodyPr wrap="square" rtlCol="0" anchor="ctr"/>
          <a:lstStyle/>
          <a:p>
            <a:pPr marL="0" indent="0">
              <a:buNone/>
            </a:pPr>
            <a:endParaRPr lang="en-US" sz="2600" dirty="0"/>
          </a:p>
        </p:txBody>
      </p:sp>
      <p:sp>
        <p:nvSpPr>
          <p:cNvPr id="4" name="Shape 2"/>
          <p:cNvSpPr/>
          <p:nvPr/>
        </p:nvSpPr>
        <p:spPr>
          <a:xfrm>
            <a:off x="585216" y="1828800"/>
            <a:ext cx="2377440" cy="1371600"/>
          </a:xfrm>
          <a:prstGeom prst="rect">
            <a:avLst/>
          </a:prstGeom>
          <a:solidFill>
            <a:srgbClr val="FFFFFF"/>
          </a:solidFill>
          <a:ln w="15875">
            <a:solidFill>
              <a:srgbClr val="1F3B4D"/>
            </a:solidFill>
            <a:prstDash val="solid"/>
          </a:ln>
        </p:spPr>
      </p:sp>
      <p:sp>
        <p:nvSpPr>
          <p:cNvPr id="5" name="Text 3"/>
          <p:cNvSpPr/>
          <p:nvPr/>
        </p:nvSpPr>
        <p:spPr>
          <a:xfrm>
            <a:off x="585216" y="1965960"/>
            <a:ext cx="2377440" cy="548640"/>
          </a:xfrm>
          <a:prstGeom prst="rect">
            <a:avLst/>
          </a:prstGeom>
          <a:noFill/>
          <a:ln/>
        </p:spPr>
        <p:txBody>
          <a:bodyPr wrap="square" rtlCol="0" anchor="t"/>
          <a:lstStyle/>
          <a:p>
            <a:pPr marL="0" indent="0" algn="ctr">
              <a:buNone/>
            </a:pPr>
            <a:r>
              <a:rPr lang="en-US" sz="1400" b="1" dirty="0">
                <a:solidFill>
                  <a:srgbClr val="1F3B4D"/>
                </a:solidFill>
                <a:latin typeface="Calibri" pitchFamily="34" charset="0"/>
                <a:ea typeface="Calibri" pitchFamily="34" charset="-122"/>
                <a:cs typeface="Calibri" pitchFamily="34" charset="-120"/>
              </a:rPr>
              <a:t>Simulated</a:t>
            </a:r>
            <a:endParaRPr lang="en-US" sz="1400" dirty="0"/>
          </a:p>
          <a:p>
            <a:pPr marL="0" indent="0" algn="ctr">
              <a:buNone/>
            </a:pPr>
            <a:r>
              <a:rPr lang="en-US" sz="1400" b="1" dirty="0">
                <a:solidFill>
                  <a:srgbClr val="1F3B4D"/>
                </a:solidFill>
                <a:latin typeface="Calibri" pitchFamily="34" charset="0"/>
                <a:ea typeface="Calibri" pitchFamily="34" charset="-122"/>
                <a:cs typeface="Calibri" pitchFamily="34" charset="-120"/>
              </a:rPr>
              <a:t>Health Data</a:t>
            </a:r>
            <a:endParaRPr lang="en-US" sz="1400" dirty="0"/>
          </a:p>
        </p:txBody>
      </p:sp>
      <p:sp>
        <p:nvSpPr>
          <p:cNvPr id="6" name="Text 4"/>
          <p:cNvSpPr/>
          <p:nvPr/>
        </p:nvSpPr>
        <p:spPr>
          <a:xfrm>
            <a:off x="676656" y="2514600"/>
            <a:ext cx="2194560" cy="640080"/>
          </a:xfrm>
          <a:prstGeom prst="rect">
            <a:avLst/>
          </a:prstGeom>
          <a:noFill/>
          <a:ln/>
        </p:spPr>
        <p:txBody>
          <a:bodyPr wrap="square" rtlCol="0" anchor="t"/>
          <a:lstStyle/>
          <a:p>
            <a:pPr marL="0" indent="0" algn="ctr">
              <a:buNone/>
            </a:pPr>
            <a:r>
              <a:rPr lang="en-US" sz="1050" dirty="0">
                <a:solidFill>
                  <a:srgbClr val="6E6E6E"/>
                </a:solidFill>
                <a:latin typeface="Calibri" pitchFamily="34" charset="0"/>
                <a:ea typeface="Calibri" pitchFamily="34" charset="-122"/>
                <a:cs typeface="Calibri" pitchFamily="34" charset="-120"/>
              </a:rPr>
              <a:t>CSV case reports</a:t>
            </a:r>
            <a:endParaRPr lang="en-US" sz="1050" dirty="0"/>
          </a:p>
          <a:p>
            <a:pPr marL="0" indent="0" algn="ctr">
              <a:buNone/>
            </a:pPr>
            <a:r>
              <a:rPr lang="en-US" sz="1050" dirty="0">
                <a:solidFill>
                  <a:srgbClr val="6E6E6E"/>
                </a:solidFill>
                <a:latin typeface="Calibri" pitchFamily="34" charset="0"/>
                <a:ea typeface="Calibri" pitchFamily="34" charset="-122"/>
                <a:cs typeface="Calibri" pitchFamily="34" charset="-120"/>
              </a:rPr>
              <a:t>5 regions • 60 days</a:t>
            </a:r>
            <a:endParaRPr lang="en-US" sz="1050" dirty="0"/>
          </a:p>
        </p:txBody>
      </p:sp>
      <p:sp>
        <p:nvSpPr>
          <p:cNvPr id="7" name="Shape 5"/>
          <p:cNvSpPr/>
          <p:nvPr/>
        </p:nvSpPr>
        <p:spPr>
          <a:xfrm>
            <a:off x="3017520" y="2395728"/>
            <a:ext cx="393192" cy="237744"/>
          </a:xfrm>
          <a:prstGeom prst="rightArrow">
            <a:avLst/>
          </a:prstGeom>
          <a:solidFill>
            <a:srgbClr val="1F3B4D"/>
          </a:solidFill>
          <a:ln/>
        </p:spPr>
      </p:sp>
      <p:sp>
        <p:nvSpPr>
          <p:cNvPr id="8" name="Shape 6"/>
          <p:cNvSpPr/>
          <p:nvPr/>
        </p:nvSpPr>
        <p:spPr>
          <a:xfrm>
            <a:off x="3465576" y="1828800"/>
            <a:ext cx="2377440" cy="1371600"/>
          </a:xfrm>
          <a:prstGeom prst="rect">
            <a:avLst/>
          </a:prstGeom>
          <a:solidFill>
            <a:srgbClr val="FFFFFF"/>
          </a:solidFill>
          <a:ln w="15875">
            <a:solidFill>
              <a:srgbClr val="1F3B4D"/>
            </a:solidFill>
            <a:prstDash val="solid"/>
          </a:ln>
        </p:spPr>
      </p:sp>
      <p:sp>
        <p:nvSpPr>
          <p:cNvPr id="9" name="Text 7"/>
          <p:cNvSpPr/>
          <p:nvPr/>
        </p:nvSpPr>
        <p:spPr>
          <a:xfrm>
            <a:off x="3465576" y="1965960"/>
            <a:ext cx="2377440" cy="548640"/>
          </a:xfrm>
          <a:prstGeom prst="rect">
            <a:avLst/>
          </a:prstGeom>
          <a:noFill/>
          <a:ln/>
        </p:spPr>
        <p:txBody>
          <a:bodyPr wrap="square" rtlCol="0" anchor="t"/>
          <a:lstStyle/>
          <a:p>
            <a:pPr marL="0" indent="0" algn="ctr">
              <a:buNone/>
            </a:pPr>
            <a:r>
              <a:rPr lang="en-US" sz="1400" b="1" dirty="0">
                <a:solidFill>
                  <a:srgbClr val="1F3B4D"/>
                </a:solidFill>
                <a:latin typeface="Calibri" pitchFamily="34" charset="0"/>
                <a:ea typeface="Calibri" pitchFamily="34" charset="-122"/>
                <a:cs typeface="Calibri" pitchFamily="34" charset="-120"/>
              </a:rPr>
              <a:t>Kafka</a:t>
            </a:r>
            <a:endParaRPr lang="en-US" sz="1400" dirty="0"/>
          </a:p>
          <a:p>
            <a:pPr marL="0" indent="0" algn="ctr">
              <a:buNone/>
            </a:pPr>
            <a:r>
              <a:rPr lang="en-US" sz="1400" b="1" dirty="0">
                <a:solidFill>
                  <a:srgbClr val="1F3B4D"/>
                </a:solidFill>
                <a:latin typeface="Calibri" pitchFamily="34" charset="0"/>
                <a:ea typeface="Calibri" pitchFamily="34" charset="-122"/>
                <a:cs typeface="Calibri" pitchFamily="34" charset="-120"/>
              </a:rPr>
              <a:t>Topic</a:t>
            </a:r>
            <a:endParaRPr lang="en-US" sz="1400" dirty="0"/>
          </a:p>
        </p:txBody>
      </p:sp>
      <p:sp>
        <p:nvSpPr>
          <p:cNvPr id="10" name="Text 8"/>
          <p:cNvSpPr/>
          <p:nvPr/>
        </p:nvSpPr>
        <p:spPr>
          <a:xfrm>
            <a:off x="3557016" y="2514600"/>
            <a:ext cx="2194560" cy="640080"/>
          </a:xfrm>
          <a:prstGeom prst="rect">
            <a:avLst/>
          </a:prstGeom>
          <a:noFill/>
          <a:ln/>
        </p:spPr>
        <p:txBody>
          <a:bodyPr wrap="square" rtlCol="0" anchor="t"/>
          <a:lstStyle/>
          <a:p>
            <a:pPr marL="0" indent="0" algn="ctr">
              <a:buNone/>
            </a:pPr>
            <a:r>
              <a:rPr lang="en-US" sz="1050" dirty="0">
                <a:solidFill>
                  <a:srgbClr val="6E6E6E"/>
                </a:solidFill>
                <a:latin typeface="Calibri" pitchFamily="34" charset="0"/>
                <a:ea typeface="Calibri" pitchFamily="34" charset="-122"/>
                <a:cs typeface="Calibri" pitchFamily="34" charset="-120"/>
              </a:rPr>
              <a:t>Producer sends</a:t>
            </a:r>
            <a:endParaRPr lang="en-US" sz="1050" dirty="0"/>
          </a:p>
          <a:p>
            <a:pPr marL="0" indent="0" algn="ctr">
              <a:buNone/>
            </a:pPr>
            <a:r>
              <a:rPr lang="en-US" sz="1050" dirty="0">
                <a:solidFill>
                  <a:srgbClr val="6E6E6E"/>
                </a:solidFill>
                <a:latin typeface="Calibri" pitchFamily="34" charset="0"/>
                <a:ea typeface="Calibri" pitchFamily="34" charset="-122"/>
                <a:cs typeface="Calibri" pitchFamily="34" charset="-120"/>
              </a:rPr>
              <a:t>one record/event</a:t>
            </a:r>
            <a:endParaRPr lang="en-US" sz="1050" dirty="0"/>
          </a:p>
        </p:txBody>
      </p:sp>
      <p:sp>
        <p:nvSpPr>
          <p:cNvPr id="11" name="Shape 9"/>
          <p:cNvSpPr/>
          <p:nvPr/>
        </p:nvSpPr>
        <p:spPr>
          <a:xfrm>
            <a:off x="5897880" y="2395728"/>
            <a:ext cx="393192" cy="237744"/>
          </a:xfrm>
          <a:prstGeom prst="rightArrow">
            <a:avLst/>
          </a:prstGeom>
          <a:solidFill>
            <a:srgbClr val="1F3B4D"/>
          </a:solidFill>
          <a:ln/>
        </p:spPr>
      </p:sp>
      <p:sp>
        <p:nvSpPr>
          <p:cNvPr id="12" name="Shape 10"/>
          <p:cNvSpPr/>
          <p:nvPr/>
        </p:nvSpPr>
        <p:spPr>
          <a:xfrm>
            <a:off x="6345936" y="1828800"/>
            <a:ext cx="2377440" cy="1371600"/>
          </a:xfrm>
          <a:prstGeom prst="rect">
            <a:avLst/>
          </a:prstGeom>
          <a:solidFill>
            <a:srgbClr val="FFFFFF"/>
          </a:solidFill>
          <a:ln w="15875">
            <a:solidFill>
              <a:srgbClr val="1F3B4D"/>
            </a:solidFill>
            <a:prstDash val="solid"/>
          </a:ln>
        </p:spPr>
      </p:sp>
      <p:sp>
        <p:nvSpPr>
          <p:cNvPr id="13" name="Text 11"/>
          <p:cNvSpPr/>
          <p:nvPr/>
        </p:nvSpPr>
        <p:spPr>
          <a:xfrm>
            <a:off x="6345936" y="1965960"/>
            <a:ext cx="2377440" cy="548640"/>
          </a:xfrm>
          <a:prstGeom prst="rect">
            <a:avLst/>
          </a:prstGeom>
          <a:noFill/>
          <a:ln/>
        </p:spPr>
        <p:txBody>
          <a:bodyPr wrap="square" rtlCol="0" anchor="t"/>
          <a:lstStyle/>
          <a:p>
            <a:pPr marL="0" indent="0" algn="ctr">
              <a:buNone/>
            </a:pPr>
            <a:r>
              <a:rPr lang="en-US" sz="1400" b="1" dirty="0">
                <a:solidFill>
                  <a:srgbClr val="1F3B4D"/>
                </a:solidFill>
                <a:latin typeface="Calibri" pitchFamily="34" charset="0"/>
                <a:ea typeface="Calibri" pitchFamily="34" charset="-122"/>
                <a:cs typeface="Calibri" pitchFamily="34" charset="-120"/>
              </a:rPr>
              <a:t>Spark</a:t>
            </a:r>
            <a:endParaRPr lang="en-US" sz="1400" dirty="0"/>
          </a:p>
          <a:p>
            <a:pPr marL="0" indent="0" algn="ctr">
              <a:buNone/>
            </a:pPr>
            <a:r>
              <a:rPr lang="en-US" sz="1400" b="1" dirty="0">
                <a:solidFill>
                  <a:srgbClr val="1F3B4D"/>
                </a:solidFill>
                <a:latin typeface="Calibri" pitchFamily="34" charset="0"/>
                <a:ea typeface="Calibri" pitchFamily="34" charset="-122"/>
                <a:cs typeface="Calibri" pitchFamily="34" charset="-120"/>
              </a:rPr>
              <a:t>Streaming</a:t>
            </a:r>
            <a:endParaRPr lang="en-US" sz="1400" dirty="0"/>
          </a:p>
        </p:txBody>
      </p:sp>
      <p:sp>
        <p:nvSpPr>
          <p:cNvPr id="14" name="Text 12"/>
          <p:cNvSpPr/>
          <p:nvPr/>
        </p:nvSpPr>
        <p:spPr>
          <a:xfrm>
            <a:off x="6437376" y="2514600"/>
            <a:ext cx="2194560" cy="640080"/>
          </a:xfrm>
          <a:prstGeom prst="rect">
            <a:avLst/>
          </a:prstGeom>
          <a:noFill/>
          <a:ln/>
        </p:spPr>
        <p:txBody>
          <a:bodyPr wrap="square" rtlCol="0" anchor="t"/>
          <a:lstStyle/>
          <a:p>
            <a:pPr marL="0" indent="0" algn="ctr">
              <a:buNone/>
            </a:pPr>
            <a:r>
              <a:rPr lang="en-US" sz="1050" dirty="0">
                <a:solidFill>
                  <a:srgbClr val="6E6E6E"/>
                </a:solidFill>
                <a:latin typeface="Calibri" pitchFamily="34" charset="0"/>
                <a:ea typeface="Calibri" pitchFamily="34" charset="-122"/>
                <a:cs typeface="Calibri" pitchFamily="34" charset="-120"/>
              </a:rPr>
              <a:t>Continuous consume</a:t>
            </a:r>
            <a:endParaRPr lang="en-US" sz="1050" dirty="0"/>
          </a:p>
          <a:p>
            <a:pPr marL="0" indent="0" algn="ctr">
              <a:buNone/>
            </a:pPr>
            <a:r>
              <a:rPr lang="en-US" sz="1050" dirty="0">
                <a:solidFill>
                  <a:srgbClr val="6E6E6E"/>
                </a:solidFill>
                <a:latin typeface="Calibri" pitchFamily="34" charset="0"/>
                <a:ea typeface="Calibri" pitchFamily="34" charset="-122"/>
                <a:cs typeface="Calibri" pitchFamily="34" charset="-120"/>
              </a:rPr>
              <a:t>+ regional aggregation</a:t>
            </a:r>
            <a:endParaRPr lang="en-US" sz="1050" dirty="0"/>
          </a:p>
        </p:txBody>
      </p:sp>
      <p:sp>
        <p:nvSpPr>
          <p:cNvPr id="15" name="Shape 13"/>
          <p:cNvSpPr/>
          <p:nvPr/>
        </p:nvSpPr>
        <p:spPr>
          <a:xfrm>
            <a:off x="8778240" y="2395728"/>
            <a:ext cx="393192" cy="237744"/>
          </a:xfrm>
          <a:prstGeom prst="rightArrow">
            <a:avLst/>
          </a:prstGeom>
          <a:solidFill>
            <a:srgbClr val="1F3B4D"/>
          </a:solidFill>
          <a:ln/>
        </p:spPr>
      </p:sp>
      <p:sp>
        <p:nvSpPr>
          <p:cNvPr id="16" name="Shape 14"/>
          <p:cNvSpPr/>
          <p:nvPr/>
        </p:nvSpPr>
        <p:spPr>
          <a:xfrm>
            <a:off x="9226296" y="1828800"/>
            <a:ext cx="2377440" cy="1371600"/>
          </a:xfrm>
          <a:prstGeom prst="rect">
            <a:avLst/>
          </a:prstGeom>
          <a:solidFill>
            <a:srgbClr val="FFFFFF"/>
          </a:solidFill>
          <a:ln w="15875">
            <a:solidFill>
              <a:srgbClr val="1F3B4D"/>
            </a:solidFill>
            <a:prstDash val="solid"/>
          </a:ln>
        </p:spPr>
      </p:sp>
      <p:sp>
        <p:nvSpPr>
          <p:cNvPr id="17" name="Text 15"/>
          <p:cNvSpPr/>
          <p:nvPr/>
        </p:nvSpPr>
        <p:spPr>
          <a:xfrm>
            <a:off x="9226296" y="1965960"/>
            <a:ext cx="2377440" cy="548640"/>
          </a:xfrm>
          <a:prstGeom prst="rect">
            <a:avLst/>
          </a:prstGeom>
          <a:noFill/>
          <a:ln/>
        </p:spPr>
        <p:txBody>
          <a:bodyPr wrap="square" rtlCol="0" anchor="t"/>
          <a:lstStyle/>
          <a:p>
            <a:pPr marL="0" indent="0" algn="ctr">
              <a:buNone/>
            </a:pPr>
            <a:r>
              <a:rPr lang="en-US" sz="1400" b="1" dirty="0">
                <a:solidFill>
                  <a:srgbClr val="1F3B4D"/>
                </a:solidFill>
                <a:latin typeface="Calibri" pitchFamily="34" charset="0"/>
                <a:ea typeface="Calibri" pitchFamily="34" charset="-122"/>
                <a:cs typeface="Calibri" pitchFamily="34" charset="-120"/>
              </a:rPr>
              <a:t>Rolling</a:t>
            </a:r>
            <a:endParaRPr lang="en-US" sz="1400" dirty="0"/>
          </a:p>
          <a:p>
            <a:pPr marL="0" indent="0" algn="ctr">
              <a:buNone/>
            </a:pPr>
            <a:r>
              <a:rPr lang="en-US" sz="1400" b="1" dirty="0">
                <a:solidFill>
                  <a:srgbClr val="1F3B4D"/>
                </a:solidFill>
                <a:latin typeface="Calibri" pitchFamily="34" charset="0"/>
                <a:ea typeface="Calibri" pitchFamily="34" charset="-122"/>
                <a:cs typeface="Calibri" pitchFamily="34" charset="-120"/>
              </a:rPr>
              <a:t>Trends</a:t>
            </a:r>
            <a:endParaRPr lang="en-US" sz="1400" dirty="0"/>
          </a:p>
        </p:txBody>
      </p:sp>
      <p:sp>
        <p:nvSpPr>
          <p:cNvPr id="18" name="Text 16"/>
          <p:cNvSpPr/>
          <p:nvPr/>
        </p:nvSpPr>
        <p:spPr>
          <a:xfrm>
            <a:off x="9317736" y="2514600"/>
            <a:ext cx="2194560" cy="640080"/>
          </a:xfrm>
          <a:prstGeom prst="rect">
            <a:avLst/>
          </a:prstGeom>
          <a:noFill/>
          <a:ln/>
        </p:spPr>
        <p:txBody>
          <a:bodyPr wrap="square" rtlCol="0" anchor="t"/>
          <a:lstStyle/>
          <a:p>
            <a:pPr marL="0" indent="0" algn="ctr">
              <a:buNone/>
            </a:pPr>
            <a:r>
              <a:rPr lang="en-US" sz="1050" dirty="0">
                <a:solidFill>
                  <a:srgbClr val="6E6E6E"/>
                </a:solidFill>
                <a:latin typeface="Calibri" pitchFamily="34" charset="0"/>
                <a:ea typeface="Calibri" pitchFamily="34" charset="-122"/>
                <a:cs typeface="Calibri" pitchFamily="34" charset="-120"/>
              </a:rPr>
              <a:t>Live case/death</a:t>
            </a:r>
            <a:endParaRPr lang="en-US" sz="1050" dirty="0"/>
          </a:p>
          <a:p>
            <a:pPr marL="0" indent="0" algn="ctr">
              <a:buNone/>
            </a:pPr>
            <a:r>
              <a:rPr lang="en-US" sz="1050" dirty="0">
                <a:solidFill>
                  <a:srgbClr val="6E6E6E"/>
                </a:solidFill>
                <a:latin typeface="Calibri" pitchFamily="34" charset="0"/>
                <a:ea typeface="Calibri" pitchFamily="34" charset="-122"/>
                <a:cs typeface="Calibri" pitchFamily="34" charset="-120"/>
              </a:rPr>
              <a:t>totals by region</a:t>
            </a:r>
            <a:endParaRPr lang="en-US" sz="1050" dirty="0"/>
          </a:p>
        </p:txBody>
      </p:sp>
      <p:sp>
        <p:nvSpPr>
          <p:cNvPr id="19" name="Text 17"/>
          <p:cNvSpPr/>
          <p:nvPr/>
        </p:nvSpPr>
        <p:spPr>
          <a:xfrm>
            <a:off x="914400" y="3749040"/>
            <a:ext cx="2743200" cy="320040"/>
          </a:xfrm>
          <a:prstGeom prst="rect">
            <a:avLst/>
          </a:prstGeom>
          <a:noFill/>
          <a:ln/>
        </p:spPr>
        <p:txBody>
          <a:bodyPr wrap="square" rtlCol="0" anchor="ctr"/>
          <a:lstStyle/>
          <a:p>
            <a:pPr marL="0" indent="0">
              <a:buNone/>
            </a:pPr>
            <a:r>
              <a:rPr lang="en-US" sz="1400" b="1" dirty="0">
                <a:solidFill>
                  <a:srgbClr val="1F3B4D"/>
                </a:solidFill>
                <a:latin typeface="Calibri" pitchFamily="34" charset="0"/>
                <a:ea typeface="Calibri" pitchFamily="34" charset="-122"/>
                <a:cs typeface="Calibri" pitchFamily="34" charset="-120"/>
              </a:rPr>
              <a:t>Why this design?</a:t>
            </a:r>
            <a:endParaRPr lang="en-US" sz="1400" dirty="0"/>
          </a:p>
        </p:txBody>
      </p:sp>
      <p:sp>
        <p:nvSpPr>
          <p:cNvPr id="20" name="Text 18"/>
          <p:cNvSpPr/>
          <p:nvPr/>
        </p:nvSpPr>
        <p:spPr>
          <a:xfrm>
            <a:off x="914400" y="4114800"/>
            <a:ext cx="10332720" cy="731520"/>
          </a:xfrm>
          <a:prstGeom prst="rect">
            <a:avLst/>
          </a:prstGeom>
          <a:noFill/>
          <a:ln/>
        </p:spPr>
        <p:txBody>
          <a:bodyPr wrap="square" rtlCol="0" anchor="t"/>
          <a:lstStyle/>
          <a:p>
            <a:pPr marL="0" indent="0">
              <a:buNone/>
            </a:pPr>
            <a:r>
              <a:rPr lang="en-US" sz="1300" dirty="0">
                <a:solidFill>
                  <a:srgbClr val="2B2B2B"/>
                </a:solidFill>
                <a:latin typeface="Calibri" pitchFamily="34" charset="0"/>
                <a:ea typeface="Calibri" pitchFamily="34" charset="-122"/>
                <a:cs typeface="Calibri" pitchFamily="34" charset="-120"/>
              </a:rPr>
              <a:t>Kafka decouples “data arriving” from “data being processed,” helping prevent data loss when processing is temporarily delayed.</a:t>
            </a:r>
            <a:endParaRPr lang="en-US" sz="1300" dirty="0"/>
          </a:p>
        </p:txBody>
      </p:sp>
      <p:sp>
        <p:nvSpPr>
          <p:cNvPr id="21" name="Text 19"/>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3</a:t>
            </a:r>
            <a:endParaRPr lang="en-US" sz="1000" dirty="0"/>
          </a:p>
        </p:txBody>
      </p:sp>
      <p:pic>
        <p:nvPicPr>
          <p:cNvPr id="22" name="Picture 21">
            <a:extLst>
              <a:ext uri="{FF2B5EF4-FFF2-40B4-BE49-F238E27FC236}">
                <a16:creationId xmlns:a16="http://schemas.microsoft.com/office/drawing/2014/main" id="{BE751356-3E49-8354-6E0E-0C0BB45404CC}"/>
              </a:ext>
            </a:extLst>
          </p:cNvPr>
          <p:cNvPicPr>
            <a:picLocks noChangeAspect="1"/>
          </p:cNvPicPr>
          <p:nvPr/>
        </p:nvPicPr>
        <p:blipFill>
          <a:blip r:embed="rId3"/>
          <a:stretch>
            <a:fillRect/>
          </a:stretch>
        </p:blipFill>
        <p:spPr>
          <a:xfrm>
            <a:off x="396815" y="621792"/>
            <a:ext cx="11473132" cy="623620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2026-09-12T04:52:07Z</dcterms:created>
  <dcterms:modified xsi:type="dcterms:W3CDTF">2026-09-12T04:52:07Z</dcterms:modified>
</cp:coreProperties>
</file>